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CB7424-C65D-4327-8F87-3736E7DFE235}">
  <a:tblStyle styleId="{54CB7424-C65D-4327-8F87-3736E7DFE23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Let me introduce our team — my name is Kseniia, and together with Nadia and Carla, we've prepared something interesting to discuss with you today. In the next ten minutes we'll walk through Vanguard's digital experience A/B test — the new step-by-step process versus the old one. I'll open with whether this experiment was set up fairly. Nadia will then cover completion and speed, and Carla will show where customers drop off and whether the new design fixed that. And I'll come back at the very end with one thing that's still a problem, before we wrap up.</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 name="Shape 20"/>
        <p:cNvGrpSpPr/>
        <p:nvPr/>
      </p:nvGrpSpPr>
      <p:grpSpPr>
        <a:xfrm>
          <a:off x="0" y="0"/>
          <a:ext cx="0" cy="0"/>
          <a:chOff x="0" y="0"/>
          <a:chExt cx="0" cy="0"/>
        </a:xfrm>
      </p:grpSpPr>
      <p:sp>
        <p:nvSpPr>
          <p:cNvPr id="21" name="Google Shape;2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 name="Google Shape;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Here's the idea behind this project. Vanguard believed that a more intuitive interface, combined with in-context prompts — small cues and hints delivered right when a client needs them — could make the online process easier to get through. But the real question wasn't whether it would feel nicer to use, it was whether it would actually get more clients to finish. To test that, Vanguard ran a live A/B experiment — real clients, randomly split between the existing process, our Control group, and the redesigned UI with in-context prompts, our Test group. Everything we're about to walk you through is us checking whether that idea actually held up.</a:t>
            </a:r>
            <a:endParaRPr/>
          </a:p>
        </p:txBody>
      </p:sp>
      <p:sp>
        <p:nvSpPr>
          <p:cNvPr id="23" name="Google Shape;2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trusting any result, we checked whether Test and Control were actually comparable — balance, age, tenure, engagement. A few metrics come out as statistically significant, but only because the sample is huge; with over 50,000 clients, even a fraction-of-a-unit difference clears that bar. What matters more is effect size, and every single one is under 0.04 on Cohen's d — negligible. So the randomization worked, and everything we show you next can be attributed to the new UI, not to lopsided groups. I'll hand it to Nadia now, and I'll come back at the end with one thing that's still unresolved.</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does the new design actually work? Two things get better in Test. First, more people reach confirmation at all — 57.7% versus 47.7% in Control, a ten-point jump, and that's the single clearest behavioral difference we found. Second, among people who succeed, they get there faster — median completion time drops from about four minutes to three and a third. Both differences are statistically significant. The effect size on speed is small, so don't expect anyone to feel a dramatic difference — but directionally, and at scale, this is a real win for Test.</a:t>
            </a:r>
            <a:endParaRPr/>
          </a:p>
        </p:txBody>
      </p:sp>
      <p:sp>
        <p:nvSpPr>
          <p:cNvPr id="56" name="Google Shape;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Before we move on, a quick word on how solid this result actually is. It's not a couple of outliers dragging the average — if we strip out unusually long journeys, Test is still faster than Control. It's not noise either — the confidence interval on the completion-rate gap is entirely positive, it never crosses zero. And we didn't just default to a standard test — we checked the variance between groups first, confirmed it was unequal, and used the right statistical test for that. So: real, if modest.</a:t>
            </a:r>
            <a:endParaRPr/>
          </a:p>
        </p:txBody>
      </p:sp>
      <p:sp>
        <p:nvSpPr>
          <p:cNvPr id="81" name="Google Shape;8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who exactly are we losing? We defined abandonment simply: a journey that starts but never reaches confirmation. About 40% of those people never get past the start screen at all — that's a first-impression problem. But look at the other end: almost a quarter of all abandoners make it all the way to Step 3, the very last step before confirming, and still don't finish. That's not disinterest — that's friction right at the finish line, and it tells us this isn't just one problem, it's at least two different ones.</a:t>
            </a:r>
            <a:endParaRPr/>
          </a:p>
        </p:txBody>
      </p:sp>
      <p:sp>
        <p:nvSpPr>
          <p:cNvPr id="100" name="Google Shape;10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did the redesign fix abandonment? Partly. The abandonment rate drops meaningfully — from about 50% down to 41%. That's a real win. But look at how long people wait before giving up: in Control, the typical abandoner leaves in about half a minute. In Test, it's a minute and a half — almost three times longer. That's not necessarily bad, it could mean people are more engaged and trying harder before quitting. But it could also mean the new flow pulls people further in before it fails them. Either way, we shouldn't call this fully solved.</a:t>
            </a:r>
            <a:endParaRPr/>
          </a:p>
        </p:txBody>
      </p:sp>
      <p:sp>
        <p:nvSpPr>
          <p:cNvPr id="123" name="Google Shape;12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want to come back to something now that Carla's shown you the full picture on abandonment. Even among people who successfully confirmed, we looked at whether they got there cleanly or with errors — repeated steps, backtracking, that kind of thing. In Control, 48% of confirmed journeys had errors. In Test, that's 55%. And this lines up with a second, independent measure — how often people navigate backward at all — which shows the same gap, 34% versus 38%. So before we wrap up: this is a real, corroborated pattern, and the new UI hasn't fixed it — by this measure, it's slightly worse.</a:t>
            </a:r>
            <a:endParaRPr/>
          </a:p>
        </p:txBody>
      </p:sp>
      <p:sp>
        <p:nvSpPr>
          <p:cNvPr id="143" name="Google Shape;14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893752370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g3f893752370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g3f893752370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1A1A"/>
        </a:solidFill>
      </p:bgPr>
    </p:bg>
    <p:spTree>
      <p:nvGrpSpPr>
        <p:cNvPr id="15" name="Shape 15"/>
        <p:cNvGrpSpPr/>
        <p:nvPr/>
      </p:nvGrpSpPr>
      <p:grpSpPr>
        <a:xfrm>
          <a:off x="0" y="0"/>
          <a:ext cx="0" cy="0"/>
          <a:chOff x="0" y="0"/>
          <a:chExt cx="0" cy="0"/>
        </a:xfrm>
      </p:grpSpPr>
      <p:sp>
        <p:nvSpPr>
          <p:cNvPr id="16" name="Google Shape;16;p3"/>
          <p:cNvSpPr txBox="1"/>
          <p:nvPr/>
        </p:nvSpPr>
        <p:spPr>
          <a:xfrm>
            <a:off x="914400" y="2468880"/>
            <a:ext cx="1033272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00"/>
              <a:buFont typeface="Georgia"/>
              <a:buNone/>
            </a:pPr>
            <a:r>
              <a:rPr b="1" i="0" lang="en-US" sz="4000" u="none" cap="none" strike="noStrike">
                <a:solidFill>
                  <a:srgbClr val="FFFFFF"/>
                </a:solidFill>
                <a:latin typeface="Georgia"/>
                <a:ea typeface="Georgia"/>
                <a:cs typeface="Georgia"/>
                <a:sym typeface="Georgia"/>
              </a:rPr>
              <a:t>Vanguard Digital Experience</a:t>
            </a:r>
            <a:endParaRPr b="0" i="0" sz="4000" u="none" cap="none" strike="noStrike">
              <a:solidFill>
                <a:schemeClr val="dk1"/>
              </a:solidFill>
              <a:latin typeface="Calibri"/>
              <a:ea typeface="Calibri"/>
              <a:cs typeface="Calibri"/>
              <a:sym typeface="Calibri"/>
            </a:endParaRPr>
          </a:p>
        </p:txBody>
      </p:sp>
      <p:sp>
        <p:nvSpPr>
          <p:cNvPr id="17" name="Google Shape;17;p3"/>
          <p:cNvSpPr txBox="1"/>
          <p:nvPr/>
        </p:nvSpPr>
        <p:spPr>
          <a:xfrm>
            <a:off x="914400" y="3429000"/>
            <a:ext cx="10332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3DE"/>
              </a:buClr>
              <a:buSzPts val="1800"/>
              <a:buFont typeface="Calibri"/>
              <a:buNone/>
            </a:pPr>
            <a:r>
              <a:rPr b="0" i="0" lang="en-US" sz="1800" u="none" cap="none" strike="noStrike">
                <a:solidFill>
                  <a:srgbClr val="CBD3DE"/>
                </a:solidFill>
                <a:latin typeface="Calibri"/>
                <a:ea typeface="Calibri"/>
                <a:cs typeface="Calibri"/>
                <a:sym typeface="Calibri"/>
              </a:rPr>
              <a:t>A/B Test Results — New UI vs. Legacy Process</a:t>
            </a:r>
            <a:endParaRPr b="0" i="0" sz="1800" u="none" cap="none" strike="noStrike">
              <a:solidFill>
                <a:schemeClr val="dk1"/>
              </a:solidFill>
              <a:latin typeface="Calibri"/>
              <a:ea typeface="Calibri"/>
              <a:cs typeface="Calibri"/>
              <a:sym typeface="Calibri"/>
            </a:endParaRPr>
          </a:p>
        </p:txBody>
      </p:sp>
      <p:sp>
        <p:nvSpPr>
          <p:cNvPr id="18" name="Google Shape;18;p3"/>
          <p:cNvSpPr txBox="1"/>
          <p:nvPr/>
        </p:nvSpPr>
        <p:spPr>
          <a:xfrm>
            <a:off x="914400" y="4480560"/>
            <a:ext cx="10332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6B5"/>
              </a:buClr>
              <a:buSzPts val="1500"/>
              <a:buFont typeface="Calibri"/>
              <a:buNone/>
            </a:pPr>
            <a:r>
              <a:rPr b="0" i="1" lang="en-US" sz="1500" u="none" cap="none" strike="noStrike">
                <a:solidFill>
                  <a:srgbClr val="9AA6B5"/>
                </a:solidFill>
                <a:latin typeface="Calibri"/>
                <a:ea typeface="Calibri"/>
                <a:cs typeface="Calibri"/>
                <a:sym typeface="Calibri"/>
              </a:rPr>
              <a:t>Kseniia, Nadiya, Carla</a:t>
            </a:r>
            <a:endParaRPr b="0" i="0" sz="1500" u="none" cap="none" strike="noStrike">
              <a:solidFill>
                <a:schemeClr val="dk1"/>
              </a:solidFill>
              <a:latin typeface="Calibri"/>
              <a:ea typeface="Calibri"/>
              <a:cs typeface="Calibri"/>
              <a:sym typeface="Calibri"/>
            </a:endParaRPr>
          </a:p>
        </p:txBody>
      </p:sp>
      <p:sp>
        <p:nvSpPr>
          <p:cNvPr id="19" name="Google Shape;19;p3"/>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AA6B5"/>
              </a:buClr>
              <a:buSzPts val="1000"/>
              <a:buFont typeface="Calibri"/>
              <a:buNone/>
            </a:pPr>
            <a:r>
              <a:rPr b="0" i="0" lang="en-US" sz="1000" u="none" cap="none" strike="noStrike">
                <a:solidFill>
                  <a:srgbClr val="9AA6B5"/>
                </a:solidFill>
                <a:latin typeface="Calibri"/>
                <a:ea typeface="Calibri"/>
                <a:cs typeface="Calibri"/>
                <a:sym typeface="Calibri"/>
              </a:rPr>
              <a:t>1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 name="Shape 24"/>
        <p:cNvGrpSpPr/>
        <p:nvPr/>
      </p:nvGrpSpPr>
      <p:grpSpPr>
        <a:xfrm>
          <a:off x="0" y="0"/>
          <a:ext cx="0" cy="0"/>
          <a:chOff x="0" y="0"/>
          <a:chExt cx="0" cy="0"/>
        </a:xfrm>
      </p:grpSpPr>
      <p:sp>
        <p:nvSpPr>
          <p:cNvPr id="25" name="Google Shape;25;p4"/>
          <p:cNvSpPr txBox="1"/>
          <p:nvPr/>
        </p:nvSpPr>
        <p:spPr>
          <a:xfrm>
            <a:off x="640080" y="457200"/>
            <a:ext cx="10058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The Digital Challenge</a:t>
            </a:r>
            <a:endParaRPr b="0" i="0" sz="2600" u="none" cap="none" strike="noStrike">
              <a:solidFill>
                <a:schemeClr val="dk1"/>
              </a:solidFill>
              <a:latin typeface="Calibri"/>
              <a:ea typeface="Calibri"/>
              <a:cs typeface="Calibri"/>
              <a:sym typeface="Calibri"/>
            </a:endParaRPr>
          </a:p>
        </p:txBody>
      </p:sp>
      <p:sp>
        <p:nvSpPr>
          <p:cNvPr id="26" name="Google Shape;26;p4"/>
          <p:cNvSpPr/>
          <p:nvPr/>
        </p:nvSpPr>
        <p:spPr>
          <a:xfrm>
            <a:off x="640080" y="1325880"/>
            <a:ext cx="10607040" cy="141732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nvSpPr>
        <p:spPr>
          <a:xfrm>
            <a:off x="914400" y="1463040"/>
            <a:ext cx="10058400" cy="64008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96151D"/>
              </a:buClr>
              <a:buSzPts val="1450"/>
              <a:buFont typeface="Calibri"/>
              <a:buNone/>
            </a:pPr>
            <a:r>
              <a:rPr b="1" i="0" lang="en-US" sz="1450" u="none" cap="none" strike="noStrike">
                <a:solidFill>
                  <a:srgbClr val="96151D"/>
                </a:solidFill>
                <a:latin typeface="Calibri"/>
                <a:ea typeface="Calibri"/>
                <a:cs typeface="Calibri"/>
                <a:sym typeface="Calibri"/>
              </a:rPr>
              <a:t>The idea: </a:t>
            </a:r>
            <a:r>
              <a:rPr b="0" i="0" lang="en-US" sz="1450" u="none" cap="none" strike="noStrike">
                <a:solidFill>
                  <a:srgbClr val="222222"/>
                </a:solidFill>
                <a:latin typeface="Calibri"/>
                <a:ea typeface="Calibri"/>
                <a:cs typeface="Calibri"/>
                <a:sym typeface="Calibri"/>
              </a:rPr>
              <a:t>a more intuitive UI, paired with in-context prompts — cues, hints, and instructions delivered right when a client needs them — could make the online process easier to complete.</a:t>
            </a:r>
            <a:endParaRPr b="0" i="0" sz="1450" u="none" cap="none" strike="noStrike">
              <a:solidFill>
                <a:schemeClr val="dk1"/>
              </a:solidFill>
              <a:latin typeface="Calibri"/>
              <a:ea typeface="Calibri"/>
              <a:cs typeface="Calibri"/>
              <a:sym typeface="Calibri"/>
            </a:endParaRPr>
          </a:p>
        </p:txBody>
      </p:sp>
      <p:sp>
        <p:nvSpPr>
          <p:cNvPr id="28" name="Google Shape;28;p4"/>
          <p:cNvSpPr txBox="1"/>
          <p:nvPr/>
        </p:nvSpPr>
        <p:spPr>
          <a:xfrm>
            <a:off x="914400" y="2148840"/>
            <a:ext cx="10058400" cy="54864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96151D"/>
              </a:buClr>
              <a:buSzPts val="1450"/>
              <a:buFont typeface="Calibri"/>
              <a:buNone/>
            </a:pPr>
            <a:r>
              <a:rPr b="1" i="0" lang="en-US" sz="1450" u="none" cap="none" strike="noStrike">
                <a:solidFill>
                  <a:srgbClr val="96151D"/>
                </a:solidFill>
                <a:latin typeface="Calibri"/>
                <a:ea typeface="Calibri"/>
                <a:cs typeface="Calibri"/>
                <a:sym typeface="Calibri"/>
              </a:rPr>
              <a:t>The question: </a:t>
            </a:r>
            <a:r>
              <a:rPr b="0" i="0" lang="en-US" sz="1450" u="none" cap="none" strike="noStrike">
                <a:solidFill>
                  <a:srgbClr val="222222"/>
                </a:solidFill>
                <a:latin typeface="Calibri"/>
                <a:ea typeface="Calibri"/>
                <a:cs typeface="Calibri"/>
                <a:sym typeface="Calibri"/>
              </a:rPr>
              <a:t>would this actually get more clients to finish the process, not just feel nicer to use?</a:t>
            </a:r>
            <a:endParaRPr b="0" i="0" sz="1450" u="none" cap="none" strike="noStrike">
              <a:solidFill>
                <a:schemeClr val="dk1"/>
              </a:solidFill>
              <a:latin typeface="Calibri"/>
              <a:ea typeface="Calibri"/>
              <a:cs typeface="Calibri"/>
              <a:sym typeface="Calibri"/>
            </a:endParaRPr>
          </a:p>
        </p:txBody>
      </p:sp>
      <p:sp>
        <p:nvSpPr>
          <p:cNvPr id="29" name="Google Shape;29;p4"/>
          <p:cNvSpPr txBox="1"/>
          <p:nvPr/>
        </p:nvSpPr>
        <p:spPr>
          <a:xfrm>
            <a:off x="640080" y="2971800"/>
            <a:ext cx="100584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900"/>
              <a:buFont typeface="Georgia"/>
              <a:buNone/>
            </a:pPr>
            <a:r>
              <a:rPr b="1" i="0" lang="en-US" sz="1900" u="none" cap="none" strike="noStrike">
                <a:solidFill>
                  <a:srgbClr val="1A1A1A"/>
                </a:solidFill>
                <a:latin typeface="Georgia"/>
                <a:ea typeface="Georgia"/>
                <a:cs typeface="Georgia"/>
                <a:sym typeface="Georgia"/>
              </a:rPr>
              <a:t>The Experiment Conducted</a:t>
            </a:r>
            <a:endParaRPr b="0" i="0" sz="1900" u="none" cap="none" strike="noStrike">
              <a:solidFill>
                <a:schemeClr val="dk1"/>
              </a:solidFill>
              <a:latin typeface="Calibri"/>
              <a:ea typeface="Calibri"/>
              <a:cs typeface="Calibri"/>
              <a:sym typeface="Calibri"/>
            </a:endParaRPr>
          </a:p>
        </p:txBody>
      </p:sp>
      <p:sp>
        <p:nvSpPr>
          <p:cNvPr id="30" name="Google Shape;30;p4"/>
          <p:cNvSpPr txBox="1"/>
          <p:nvPr/>
        </p:nvSpPr>
        <p:spPr>
          <a:xfrm>
            <a:off x="640080" y="34747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400" u="none" cap="none" strike="noStrike">
                <a:solidFill>
                  <a:srgbClr val="5B5652"/>
                </a:solidFill>
                <a:latin typeface="Calibri"/>
                <a:ea typeface="Calibri"/>
                <a:cs typeface="Calibri"/>
                <a:sym typeface="Calibri"/>
              </a:rPr>
              <a:t>A live A/B test — real clients, randomly split:</a:t>
            </a:r>
            <a:endParaRPr b="0" i="0" sz="1400" u="none" cap="none" strike="noStrike">
              <a:solidFill>
                <a:schemeClr val="dk1"/>
              </a:solidFill>
              <a:latin typeface="Calibri"/>
              <a:ea typeface="Calibri"/>
              <a:cs typeface="Calibri"/>
              <a:sym typeface="Calibri"/>
            </a:endParaRPr>
          </a:p>
        </p:txBody>
      </p:sp>
      <p:sp>
        <p:nvSpPr>
          <p:cNvPr id="31" name="Google Shape;31;p4"/>
          <p:cNvSpPr/>
          <p:nvPr/>
        </p:nvSpPr>
        <p:spPr>
          <a:xfrm>
            <a:off x="640080" y="3931920"/>
            <a:ext cx="5166360" cy="96012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txBox="1"/>
          <p:nvPr/>
        </p:nvSpPr>
        <p:spPr>
          <a:xfrm>
            <a:off x="914400" y="3931920"/>
            <a:ext cx="46177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1800"/>
              <a:buFont typeface="Georgia"/>
              <a:buNone/>
            </a:pPr>
            <a:r>
              <a:rPr b="1" i="0" lang="en-US" sz="1800" u="none" cap="none" strike="noStrike">
                <a:solidFill>
                  <a:srgbClr val="96151D"/>
                </a:solidFill>
                <a:latin typeface="Georgia"/>
                <a:ea typeface="Georgia"/>
                <a:cs typeface="Georgia"/>
                <a:sym typeface="Georgia"/>
              </a:rPr>
              <a:t>Control</a:t>
            </a:r>
            <a:endParaRPr b="0" i="0" sz="1800" u="none" cap="none" strike="noStrike">
              <a:solidFill>
                <a:schemeClr val="dk1"/>
              </a:solidFill>
              <a:latin typeface="Calibri"/>
              <a:ea typeface="Calibri"/>
              <a:cs typeface="Calibri"/>
              <a:sym typeface="Calibri"/>
            </a:endParaRPr>
          </a:p>
        </p:txBody>
      </p:sp>
      <p:sp>
        <p:nvSpPr>
          <p:cNvPr id="33" name="Google Shape;33;p4"/>
          <p:cNvSpPr txBox="1"/>
          <p:nvPr/>
        </p:nvSpPr>
        <p:spPr>
          <a:xfrm>
            <a:off x="2468880" y="3931920"/>
            <a:ext cx="3063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US" sz="1300" u="none" cap="none" strike="noStrike">
                <a:solidFill>
                  <a:srgbClr val="222222"/>
                </a:solidFill>
                <a:latin typeface="Calibri"/>
                <a:ea typeface="Calibri"/>
                <a:cs typeface="Calibri"/>
                <a:sym typeface="Calibri"/>
              </a:rPr>
              <a:t>the existing process</a:t>
            </a:r>
            <a:endParaRPr b="0" i="0" sz="1300" u="none" cap="none" strike="noStrike">
              <a:solidFill>
                <a:schemeClr val="dk1"/>
              </a:solidFill>
              <a:latin typeface="Calibri"/>
              <a:ea typeface="Calibri"/>
              <a:cs typeface="Calibri"/>
              <a:sym typeface="Calibri"/>
            </a:endParaRPr>
          </a:p>
        </p:txBody>
      </p:sp>
      <p:sp>
        <p:nvSpPr>
          <p:cNvPr id="34" name="Google Shape;34;p4"/>
          <p:cNvSpPr/>
          <p:nvPr/>
        </p:nvSpPr>
        <p:spPr>
          <a:xfrm>
            <a:off x="6080760" y="3931920"/>
            <a:ext cx="5166360" cy="96012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nvSpPr>
        <p:spPr>
          <a:xfrm>
            <a:off x="6355080" y="3931920"/>
            <a:ext cx="461772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1800"/>
              <a:buFont typeface="Georgia"/>
              <a:buNone/>
            </a:pPr>
            <a:r>
              <a:rPr b="1" i="0" lang="en-US" sz="1800" u="none" cap="none" strike="noStrike">
                <a:solidFill>
                  <a:srgbClr val="96151D"/>
                </a:solidFill>
                <a:latin typeface="Georgia"/>
                <a:ea typeface="Georgia"/>
                <a:cs typeface="Georgia"/>
                <a:sym typeface="Georgia"/>
              </a:rPr>
              <a:t>Test</a:t>
            </a:r>
            <a:endParaRPr b="0" i="0" sz="1800" u="none" cap="none" strike="noStrike">
              <a:solidFill>
                <a:schemeClr val="dk1"/>
              </a:solidFill>
              <a:latin typeface="Calibri"/>
              <a:ea typeface="Calibri"/>
              <a:cs typeface="Calibri"/>
              <a:sym typeface="Calibri"/>
            </a:endParaRPr>
          </a:p>
        </p:txBody>
      </p:sp>
      <p:sp>
        <p:nvSpPr>
          <p:cNvPr id="36" name="Google Shape;36;p4"/>
          <p:cNvSpPr txBox="1"/>
          <p:nvPr/>
        </p:nvSpPr>
        <p:spPr>
          <a:xfrm>
            <a:off x="7909560" y="3931920"/>
            <a:ext cx="3063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US" sz="1300" u="none" cap="none" strike="noStrike">
                <a:solidFill>
                  <a:srgbClr val="222222"/>
                </a:solidFill>
                <a:latin typeface="Calibri"/>
                <a:ea typeface="Calibri"/>
                <a:cs typeface="Calibri"/>
                <a:sym typeface="Calibri"/>
              </a:rPr>
              <a:t>redesigned UI + in-context prompts</a:t>
            </a:r>
            <a:endParaRPr b="0" i="0" sz="1300" u="none" cap="none" strike="noStrike">
              <a:solidFill>
                <a:schemeClr val="dk1"/>
              </a:solidFill>
              <a:latin typeface="Calibri"/>
              <a:ea typeface="Calibri"/>
              <a:cs typeface="Calibri"/>
              <a:sym typeface="Calibri"/>
            </a:endParaRPr>
          </a:p>
        </p:txBody>
      </p:sp>
      <p:sp>
        <p:nvSpPr>
          <p:cNvPr id="37" name="Google Shape;37;p4"/>
          <p:cNvSpPr/>
          <p:nvPr/>
        </p:nvSpPr>
        <p:spPr>
          <a:xfrm>
            <a:off x="640080" y="5212080"/>
            <a:ext cx="10607040" cy="77724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txBox="1"/>
          <p:nvPr/>
        </p:nvSpPr>
        <p:spPr>
          <a:xfrm>
            <a:off x="914400" y="5212080"/>
            <a:ext cx="100584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Everything that follows is us checking whether that idea held up.</a:t>
            </a:r>
            <a:endParaRPr b="0" i="0" sz="1500" u="none" cap="none" strike="noStrike">
              <a:solidFill>
                <a:schemeClr val="dk1"/>
              </a:solidFill>
              <a:latin typeface="Calibri"/>
              <a:ea typeface="Calibri"/>
              <a:cs typeface="Calibri"/>
              <a:sym typeface="Calibri"/>
            </a:endParaRPr>
          </a:p>
        </p:txBody>
      </p:sp>
      <p:sp>
        <p:nvSpPr>
          <p:cNvPr id="39" name="Google Shape;39;p4"/>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2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 name="Shape 44"/>
        <p:cNvGrpSpPr/>
        <p:nvPr/>
      </p:nvGrpSpPr>
      <p:grpSpPr>
        <a:xfrm>
          <a:off x="0" y="0"/>
          <a:ext cx="0" cy="0"/>
          <a:chOff x="0" y="0"/>
          <a:chExt cx="0" cy="0"/>
        </a:xfrm>
      </p:grpSpPr>
      <p:sp>
        <p:nvSpPr>
          <p:cNvPr id="45" name="Google Shape;45;p5"/>
          <p:cNvSpPr txBox="1"/>
          <p:nvPr/>
        </p:nvSpPr>
        <p:spPr>
          <a:xfrm>
            <a:off x="640080" y="457200"/>
            <a:ext cx="10058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Is the experiment valid?</a:t>
            </a:r>
            <a:endParaRPr b="0" i="0" sz="2600" u="none" cap="none" strike="noStrike">
              <a:solidFill>
                <a:schemeClr val="dk1"/>
              </a:solidFill>
              <a:latin typeface="Calibri"/>
              <a:ea typeface="Calibri"/>
              <a:cs typeface="Calibri"/>
              <a:sym typeface="Calibri"/>
            </a:endParaRPr>
          </a:p>
        </p:txBody>
      </p:sp>
      <p:sp>
        <p:nvSpPr>
          <p:cNvPr id="46" name="Google Shape;46;p5"/>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400" u="none" cap="none" strike="noStrike">
                <a:solidFill>
                  <a:srgbClr val="5B5652"/>
                </a:solidFill>
                <a:latin typeface="Calibri"/>
                <a:ea typeface="Calibri"/>
                <a:cs typeface="Calibri"/>
                <a:sym typeface="Calibri"/>
              </a:rPr>
              <a:t>Checking Test vs. Control before trusting any result</a:t>
            </a:r>
            <a:endParaRPr b="0" i="0" sz="1400" u="none" cap="none" strike="noStrike">
              <a:solidFill>
                <a:schemeClr val="dk1"/>
              </a:solidFill>
              <a:latin typeface="Calibri"/>
              <a:ea typeface="Calibri"/>
              <a:cs typeface="Calibri"/>
              <a:sym typeface="Calibri"/>
            </a:endParaRPr>
          </a:p>
        </p:txBody>
      </p:sp>
      <p:sp>
        <p:nvSpPr>
          <p:cNvPr id="47" name="Google Shape;47;p5"/>
          <p:cNvSpPr txBox="1"/>
          <p:nvPr/>
        </p:nvSpPr>
        <p:spPr>
          <a:xfrm>
            <a:off x="640080" y="155448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1600"/>
              <a:buFont typeface="Calibri"/>
              <a:buNone/>
            </a:pPr>
            <a:r>
              <a:rPr b="1" i="0" lang="en-US" sz="1600" u="none" cap="none" strike="noStrike">
                <a:solidFill>
                  <a:srgbClr val="96151D"/>
                </a:solidFill>
                <a:latin typeface="Calibri"/>
                <a:ea typeface="Calibri"/>
                <a:cs typeface="Calibri"/>
                <a:sym typeface="Calibri"/>
              </a:rPr>
              <a:t>50,500 clients </a:t>
            </a:r>
            <a:r>
              <a:rPr b="0" i="0" lang="en-US" sz="1600" u="none" cap="none" strike="noStrike">
                <a:solidFill>
                  <a:srgbClr val="222222"/>
                </a:solidFill>
                <a:latin typeface="Calibri"/>
                <a:ea typeface="Calibri"/>
                <a:cs typeface="Calibri"/>
                <a:sym typeface="Calibri"/>
              </a:rPr>
              <a:t>in the experiment  —  53% Test / 47% Control</a:t>
            </a:r>
            <a:endParaRPr b="0" i="0" sz="1600" u="none" cap="none" strike="noStrike">
              <a:solidFill>
                <a:schemeClr val="dk1"/>
              </a:solidFill>
              <a:latin typeface="Calibri"/>
              <a:ea typeface="Calibri"/>
              <a:cs typeface="Calibri"/>
              <a:sym typeface="Calibri"/>
            </a:endParaRPr>
          </a:p>
        </p:txBody>
      </p:sp>
      <p:graphicFrame>
        <p:nvGraphicFramePr>
          <p:cNvPr id="48" name="Google Shape;48;p5"/>
          <p:cNvGraphicFramePr/>
          <p:nvPr/>
        </p:nvGraphicFramePr>
        <p:xfrm>
          <a:off x="640080" y="2148840"/>
          <a:ext cx="3000000" cy="3000000"/>
        </p:xfrm>
        <a:graphic>
          <a:graphicData uri="http://schemas.openxmlformats.org/drawingml/2006/table">
            <a:tbl>
              <a:tblPr>
                <a:noFill/>
                <a:tableStyleId>{54CB7424-C65D-4327-8F87-3736E7DFE235}</a:tableStyleId>
              </a:tblPr>
              <a:tblGrid>
                <a:gridCol w="2743200"/>
                <a:gridCol w="2651750"/>
                <a:gridCol w="2651750"/>
                <a:gridCol w="2560325"/>
              </a:tblGrid>
              <a:tr h="457200">
                <a:tc>
                  <a:txBody>
                    <a:bodyPr/>
                    <a:lstStyle/>
                    <a:p>
                      <a:pPr indent="0" lvl="0" marL="0" marR="0" rtl="0" algn="l">
                        <a:spcBef>
                          <a:spcPts val="0"/>
                        </a:spcBef>
                        <a:spcAft>
                          <a:spcPts val="0"/>
                        </a:spcAft>
                        <a:buClr>
                          <a:schemeClr val="dk1"/>
                        </a:buClr>
                        <a:buSzPts val="1350"/>
                        <a:buFont typeface="Calibri"/>
                        <a:buNone/>
                      </a:pPr>
                      <a:r>
                        <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Control</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solidFill>
                      <a:srgbClr val="1A1A1A"/>
                    </a:solidFill>
                  </a:tcPr>
                </a:tc>
                <a:tc>
                  <a:txBody>
                    <a:bodyPr/>
                    <a:lstStyle/>
                    <a:p>
                      <a:pPr indent="0" lvl="0" marL="0" marR="0" rtl="0" algn="ctr">
                        <a:spcBef>
                          <a:spcPts val="0"/>
                        </a:spcBef>
                        <a:spcAft>
                          <a:spcPts val="0"/>
                        </a:spcAft>
                        <a:buClr>
                          <a:srgbClr val="FFFFFF"/>
                        </a:buClr>
                        <a:buSzPts val="1350"/>
                        <a:buFont typeface="Calibri"/>
                        <a:buNone/>
                      </a:pPr>
                      <a:r>
                        <a:rPr b="1" lang="en-US" sz="1350" u="none" cap="none" strike="noStrike">
                          <a:solidFill>
                            <a:srgbClr val="FFFFFF"/>
                          </a:solidFill>
                          <a:latin typeface="Calibri"/>
                          <a:ea typeface="Calibri"/>
                          <a:cs typeface="Calibri"/>
                          <a:sym typeface="Calibri"/>
                        </a:rPr>
                        <a:t>Test</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solidFill>
                      <a:srgbClr val="1A1A1A"/>
                    </a:solidFill>
                  </a:tcPr>
                </a:tc>
                <a:tc>
                  <a:txBody>
                    <a:bodyPr/>
                    <a:lstStyle/>
                    <a:p>
                      <a:pPr indent="0" lvl="0" marL="0" marR="0" rtl="0" algn="l">
                        <a:spcBef>
                          <a:spcPts val="0"/>
                        </a:spcBef>
                        <a:spcAft>
                          <a:spcPts val="0"/>
                        </a:spcAft>
                        <a:buClr>
                          <a:schemeClr val="dk1"/>
                        </a:buClr>
                        <a:buSzPts val="1350"/>
                        <a:buFont typeface="Calibri"/>
                        <a:buNone/>
                      </a:pPr>
                      <a:r>
                        <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solidFill>
                      <a:srgbClr val="1A1A1A"/>
                    </a:solidFill>
                  </a:tcPr>
                </a:tc>
              </a:tr>
              <a:tr h="457200">
                <a:tc>
                  <a:txBody>
                    <a:bodyPr/>
                    <a:lstStyle/>
                    <a:p>
                      <a:pPr indent="0" lvl="0" marL="0" marR="0" rtl="0" algn="l">
                        <a:spcBef>
                          <a:spcPts val="0"/>
                        </a:spcBef>
                        <a:spcAft>
                          <a:spcPts val="0"/>
                        </a:spcAft>
                        <a:buClr>
                          <a:srgbClr val="222222"/>
                        </a:buClr>
                        <a:buSzPts val="1350"/>
                        <a:buFont typeface="Calibri"/>
                        <a:buNone/>
                      </a:pPr>
                      <a:r>
                        <a:rPr b="1" lang="en-US" sz="1350" u="none" cap="none" strike="noStrike">
                          <a:solidFill>
                            <a:srgbClr val="222222"/>
                          </a:solidFill>
                          <a:latin typeface="Calibri"/>
                          <a:ea typeface="Calibri"/>
                          <a:cs typeface="Calibri"/>
                          <a:sym typeface="Calibri"/>
                        </a:rPr>
                        <a:t>Avg. balance</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$150,147</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$148,963</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l">
                        <a:spcBef>
                          <a:spcPts val="0"/>
                        </a:spcBef>
                        <a:spcAft>
                          <a:spcPts val="0"/>
                        </a:spcAft>
                        <a:buClr>
                          <a:srgbClr val="5B5652"/>
                        </a:buClr>
                        <a:buSzPts val="1350"/>
                        <a:buFont typeface="Calibri"/>
                        <a:buNone/>
                      </a:pPr>
                      <a:r>
                        <a:rPr i="1" lang="en-US" sz="1350" u="none" cap="none" strike="noStrike">
                          <a:solidFill>
                            <a:srgbClr val="5B5652"/>
                          </a:solidFill>
                          <a:latin typeface="Calibri"/>
                          <a:ea typeface="Calibri"/>
                          <a:cs typeface="Calibri"/>
                          <a:sym typeface="Calibri"/>
                        </a:rPr>
                        <a:t>not significant</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r>
              <a:tr h="457200">
                <a:tc>
                  <a:txBody>
                    <a:bodyPr/>
                    <a:lstStyle/>
                    <a:p>
                      <a:pPr indent="0" lvl="0" marL="0" marR="0" rtl="0" algn="l">
                        <a:spcBef>
                          <a:spcPts val="0"/>
                        </a:spcBef>
                        <a:spcAft>
                          <a:spcPts val="0"/>
                        </a:spcAft>
                        <a:buClr>
                          <a:srgbClr val="222222"/>
                        </a:buClr>
                        <a:buSzPts val="1350"/>
                        <a:buFont typeface="Calibri"/>
                        <a:buNone/>
                      </a:pPr>
                      <a:r>
                        <a:rPr b="1" lang="en-US" sz="1350" u="none" cap="none" strike="noStrike">
                          <a:solidFill>
                            <a:srgbClr val="222222"/>
                          </a:solidFill>
                          <a:latin typeface="Calibri"/>
                          <a:ea typeface="Calibri"/>
                          <a:cs typeface="Calibri"/>
                          <a:sym typeface="Calibri"/>
                        </a:rPr>
                        <a:t>Avg. age</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47.5 yrs</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47.2 yrs</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l">
                        <a:spcBef>
                          <a:spcPts val="0"/>
                        </a:spcBef>
                        <a:spcAft>
                          <a:spcPts val="0"/>
                        </a:spcAft>
                        <a:buClr>
                          <a:srgbClr val="5B5652"/>
                        </a:buClr>
                        <a:buSzPts val="1350"/>
                        <a:buFont typeface="Calibri"/>
                        <a:buNone/>
                      </a:pPr>
                      <a:r>
                        <a:rPr i="1" lang="en-US" sz="1350" u="none" cap="none" strike="noStrike">
                          <a:solidFill>
                            <a:srgbClr val="5B5652"/>
                          </a:solidFill>
                          <a:latin typeface="Calibri"/>
                          <a:ea typeface="Calibri"/>
                          <a:cs typeface="Calibri"/>
                          <a:sym typeface="Calibri"/>
                        </a:rPr>
                        <a:t>significant, but tiny</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r>
              <a:tr h="457200">
                <a:tc>
                  <a:txBody>
                    <a:bodyPr/>
                    <a:lstStyle/>
                    <a:p>
                      <a:pPr indent="0" lvl="0" marL="0" marR="0" rtl="0" algn="l">
                        <a:spcBef>
                          <a:spcPts val="0"/>
                        </a:spcBef>
                        <a:spcAft>
                          <a:spcPts val="0"/>
                        </a:spcAft>
                        <a:buClr>
                          <a:srgbClr val="222222"/>
                        </a:buClr>
                        <a:buSzPts val="1350"/>
                        <a:buFont typeface="Calibri"/>
                        <a:buNone/>
                      </a:pPr>
                      <a:r>
                        <a:rPr b="1" lang="en-US" sz="1350" u="none" cap="none" strike="noStrike">
                          <a:solidFill>
                            <a:srgbClr val="222222"/>
                          </a:solidFill>
                          <a:latin typeface="Calibri"/>
                          <a:ea typeface="Calibri"/>
                          <a:cs typeface="Calibri"/>
                          <a:sym typeface="Calibri"/>
                        </a:rPr>
                        <a:t>Avg. tenure</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12.1 yrs</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12.0 yrs</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l">
                        <a:spcBef>
                          <a:spcPts val="0"/>
                        </a:spcBef>
                        <a:spcAft>
                          <a:spcPts val="0"/>
                        </a:spcAft>
                        <a:buClr>
                          <a:srgbClr val="5B5652"/>
                        </a:buClr>
                        <a:buSzPts val="1350"/>
                        <a:buFont typeface="Calibri"/>
                        <a:buNone/>
                      </a:pPr>
                      <a:r>
                        <a:rPr i="1" lang="en-US" sz="1350" u="none" cap="none" strike="noStrike">
                          <a:solidFill>
                            <a:srgbClr val="5B5652"/>
                          </a:solidFill>
                          <a:latin typeface="Calibri"/>
                          <a:ea typeface="Calibri"/>
                          <a:cs typeface="Calibri"/>
                          <a:sym typeface="Calibri"/>
                        </a:rPr>
                        <a:t>not significant</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r>
              <a:tr h="457200">
                <a:tc>
                  <a:txBody>
                    <a:bodyPr/>
                    <a:lstStyle/>
                    <a:p>
                      <a:pPr indent="0" lvl="0" marL="0" marR="0" rtl="0" algn="l">
                        <a:spcBef>
                          <a:spcPts val="0"/>
                        </a:spcBef>
                        <a:spcAft>
                          <a:spcPts val="0"/>
                        </a:spcAft>
                        <a:buClr>
                          <a:srgbClr val="222222"/>
                        </a:buClr>
                        <a:buSzPts val="1350"/>
                        <a:buFont typeface="Calibri"/>
                        <a:buNone/>
                      </a:pPr>
                      <a:r>
                        <a:rPr b="1" lang="en-US" sz="1350" u="none" cap="none" strike="noStrike">
                          <a:solidFill>
                            <a:srgbClr val="222222"/>
                          </a:solidFill>
                          <a:latin typeface="Calibri"/>
                          <a:ea typeface="Calibri"/>
                          <a:cs typeface="Calibri"/>
                          <a:sym typeface="Calibri"/>
                        </a:rPr>
                        <a:t>Calls / logons (6mo)</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slightly higher</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ctr">
                        <a:spcBef>
                          <a:spcPts val="0"/>
                        </a:spcBef>
                        <a:spcAft>
                          <a:spcPts val="0"/>
                        </a:spcAft>
                        <a:buClr>
                          <a:srgbClr val="222222"/>
                        </a:buClr>
                        <a:buSzPts val="1350"/>
                        <a:buFont typeface="Calibri"/>
                        <a:buNone/>
                      </a:pPr>
                      <a:r>
                        <a:rPr lang="en-US" sz="1350" u="none" cap="none" strike="noStrike">
                          <a:solidFill>
                            <a:srgbClr val="222222"/>
                          </a:solidFill>
                          <a:latin typeface="Calibri"/>
                          <a:ea typeface="Calibri"/>
                          <a:cs typeface="Calibri"/>
                          <a:sym typeface="Calibri"/>
                        </a:rPr>
                        <a:t>slightly lower</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c>
                  <a:txBody>
                    <a:bodyPr/>
                    <a:lstStyle/>
                    <a:p>
                      <a:pPr indent="0" lvl="0" marL="0" marR="0" rtl="0" algn="l">
                        <a:spcBef>
                          <a:spcPts val="0"/>
                        </a:spcBef>
                        <a:spcAft>
                          <a:spcPts val="0"/>
                        </a:spcAft>
                        <a:buClr>
                          <a:srgbClr val="5B5652"/>
                        </a:buClr>
                        <a:buSzPts val="1350"/>
                        <a:buFont typeface="Calibri"/>
                        <a:buNone/>
                      </a:pPr>
                      <a:r>
                        <a:rPr i="1" lang="en-US" sz="1350" u="none" cap="none" strike="noStrike">
                          <a:solidFill>
                            <a:srgbClr val="5B5652"/>
                          </a:solidFill>
                          <a:latin typeface="Calibri"/>
                          <a:ea typeface="Calibri"/>
                          <a:cs typeface="Calibri"/>
                          <a:sym typeface="Calibri"/>
                        </a:rPr>
                        <a:t>significant, but tiny</a:t>
                      </a:r>
                      <a:endParaRPr sz="1350" u="none" cap="none" strike="noStrike">
                        <a:latin typeface="Calibri"/>
                        <a:ea typeface="Calibri"/>
                        <a:cs typeface="Calibri"/>
                        <a:sym typeface="Calibri"/>
                      </a:endParaRPr>
                    </a:p>
                  </a:txBody>
                  <a:tcPr marT="45725" marB="45725" marR="91450" marL="91450" anchor="ctr">
                    <a:lnL cap="flat" cmpd="sng" w="12700">
                      <a:solidFill>
                        <a:srgbClr val="E2E6EB"/>
                      </a:solidFill>
                      <a:prstDash val="solid"/>
                      <a:round/>
                      <a:headEnd len="sm" w="sm" type="none"/>
                      <a:tailEnd len="sm" w="sm" type="none"/>
                    </a:lnL>
                    <a:lnR cap="flat" cmpd="sng" w="12700">
                      <a:solidFill>
                        <a:srgbClr val="E2E6EB"/>
                      </a:solidFill>
                      <a:prstDash val="solid"/>
                      <a:round/>
                      <a:headEnd len="sm" w="sm" type="none"/>
                      <a:tailEnd len="sm" w="sm" type="none"/>
                    </a:lnR>
                    <a:lnT cap="flat" cmpd="sng" w="12700">
                      <a:solidFill>
                        <a:srgbClr val="E2E6EB"/>
                      </a:solidFill>
                      <a:prstDash val="solid"/>
                      <a:round/>
                      <a:headEnd len="sm" w="sm" type="none"/>
                      <a:tailEnd len="sm" w="sm" type="none"/>
                    </a:lnT>
                    <a:lnB cap="flat" cmpd="sng" w="12700">
                      <a:solidFill>
                        <a:srgbClr val="E2E6EB"/>
                      </a:solidFill>
                      <a:prstDash val="solid"/>
                      <a:round/>
                      <a:headEnd len="sm" w="sm" type="none"/>
                      <a:tailEnd len="sm" w="sm" type="none"/>
                    </a:lnB>
                  </a:tcPr>
                </a:tc>
              </a:tr>
            </a:tbl>
          </a:graphicData>
        </a:graphic>
      </p:graphicFrame>
      <p:sp>
        <p:nvSpPr>
          <p:cNvPr id="49" name="Google Shape;49;p5"/>
          <p:cNvSpPr txBox="1"/>
          <p:nvPr/>
        </p:nvSpPr>
        <p:spPr>
          <a:xfrm>
            <a:off x="640080" y="470916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500"/>
              <a:buFont typeface="Calibri"/>
              <a:buNone/>
            </a:pPr>
            <a:r>
              <a:rPr b="0" i="0" lang="en-US" sz="1500" u="none" cap="none" strike="noStrike">
                <a:solidFill>
                  <a:srgbClr val="222222"/>
                </a:solidFill>
                <a:latin typeface="Calibri"/>
                <a:ea typeface="Calibri"/>
                <a:cs typeface="Calibri"/>
                <a:sym typeface="Calibri"/>
              </a:rPr>
              <a:t>All effect sizes: </a:t>
            </a:r>
            <a:r>
              <a:rPr b="1" i="0" lang="en-US" sz="1500" u="none" cap="none" strike="noStrike">
                <a:solidFill>
                  <a:srgbClr val="96151D"/>
                </a:solidFill>
                <a:latin typeface="Calibri"/>
                <a:ea typeface="Calibri"/>
                <a:cs typeface="Calibri"/>
                <a:sym typeface="Calibri"/>
              </a:rPr>
              <a:t>Cohen's d &lt; 0.04</a:t>
            </a:r>
            <a:r>
              <a:rPr b="0" i="0" lang="en-US" sz="1500" u="none" cap="none" strike="noStrike">
                <a:solidFill>
                  <a:srgbClr val="222222"/>
                </a:solidFill>
                <a:latin typeface="Calibri"/>
                <a:ea typeface="Calibri"/>
                <a:cs typeface="Calibri"/>
                <a:sym typeface="Calibri"/>
              </a:rPr>
              <a:t>  —  negligible</a:t>
            </a:r>
            <a:endParaRPr b="0" i="0" sz="1500" u="none" cap="none" strike="noStrike">
              <a:solidFill>
                <a:schemeClr val="dk1"/>
              </a:solidFill>
              <a:latin typeface="Calibri"/>
              <a:ea typeface="Calibri"/>
              <a:cs typeface="Calibri"/>
              <a:sym typeface="Calibri"/>
            </a:endParaRPr>
          </a:p>
        </p:txBody>
      </p:sp>
      <p:sp>
        <p:nvSpPr>
          <p:cNvPr id="50" name="Google Shape;50;p5"/>
          <p:cNvSpPr/>
          <p:nvPr/>
        </p:nvSpPr>
        <p:spPr>
          <a:xfrm>
            <a:off x="640080" y="5349240"/>
            <a:ext cx="10607040" cy="96012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txBox="1"/>
          <p:nvPr/>
        </p:nvSpPr>
        <p:spPr>
          <a:xfrm>
            <a:off x="914400" y="5349240"/>
            <a:ext cx="100584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500"/>
              <a:buFont typeface="Calibri"/>
              <a:buNone/>
            </a:pPr>
            <a:r>
              <a:rPr b="1" i="0" lang="en-US" sz="1500" u="none" cap="none" strike="noStrike">
                <a:solidFill>
                  <a:srgbClr val="1A1A1A"/>
                </a:solidFill>
                <a:latin typeface="Calibri"/>
                <a:ea typeface="Calibri"/>
                <a:cs typeface="Calibri"/>
                <a:sym typeface="Calibri"/>
              </a:rPr>
              <a:t>Groups are well balanced. What follows is attributable to the UI, not to who ended up in which group.</a:t>
            </a:r>
            <a:endParaRPr b="0" i="0" sz="1500" u="none" cap="none" strike="noStrike">
              <a:solidFill>
                <a:schemeClr val="dk1"/>
              </a:solidFill>
              <a:latin typeface="Calibri"/>
              <a:ea typeface="Calibri"/>
              <a:cs typeface="Calibri"/>
              <a:sym typeface="Calibri"/>
            </a:endParaRPr>
          </a:p>
        </p:txBody>
      </p:sp>
      <p:sp>
        <p:nvSpPr>
          <p:cNvPr id="52" name="Google Shape;52;p5"/>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3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6"/>
          <p:cNvSpPr txBox="1"/>
          <p:nvPr/>
        </p:nvSpPr>
        <p:spPr>
          <a:xfrm>
            <a:off x="640080" y="457200"/>
            <a:ext cx="10058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Do customers complete the journey faster?</a:t>
            </a:r>
            <a:endParaRPr b="0" i="0" sz="2600" u="none" cap="none" strike="noStrike">
              <a:solidFill>
                <a:schemeClr val="dk1"/>
              </a:solidFill>
              <a:latin typeface="Calibri"/>
              <a:ea typeface="Calibri"/>
              <a:cs typeface="Calibri"/>
              <a:sym typeface="Calibri"/>
            </a:endParaRPr>
          </a:p>
        </p:txBody>
      </p:sp>
      <p:sp>
        <p:nvSpPr>
          <p:cNvPr id="59" name="Google Shape;59;p6"/>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600" u="none" cap="none" strike="noStrike">
                <a:solidFill>
                  <a:srgbClr val="5B5652"/>
                </a:solidFill>
                <a:latin typeface="Calibri"/>
                <a:ea typeface="Calibri"/>
                <a:cs typeface="Calibri"/>
                <a:sym typeface="Calibri"/>
              </a:rPr>
              <a:t>Completion rate and completion time, Test vs. Control</a:t>
            </a:r>
            <a:endParaRPr b="0" i="0" sz="1600" u="none" cap="none" strike="noStrike">
              <a:solidFill>
                <a:schemeClr val="dk1"/>
              </a:solidFill>
              <a:latin typeface="Calibri"/>
              <a:ea typeface="Calibri"/>
              <a:cs typeface="Calibri"/>
              <a:sym typeface="Calibri"/>
            </a:endParaRPr>
          </a:p>
        </p:txBody>
      </p:sp>
      <p:sp>
        <p:nvSpPr>
          <p:cNvPr id="60" name="Google Shape;60;p6"/>
          <p:cNvSpPr/>
          <p:nvPr/>
        </p:nvSpPr>
        <p:spPr>
          <a:xfrm>
            <a:off x="640080" y="1691640"/>
            <a:ext cx="3410712" cy="26517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txBox="1"/>
          <p:nvPr/>
        </p:nvSpPr>
        <p:spPr>
          <a:xfrm>
            <a:off x="868680" y="1874520"/>
            <a:ext cx="295351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350"/>
              <a:buFont typeface="Calibri"/>
              <a:buNone/>
            </a:pPr>
            <a:r>
              <a:rPr b="1" i="0" lang="en-US" sz="1350" u="none" cap="none" strike="noStrike">
                <a:solidFill>
                  <a:srgbClr val="5B5652"/>
                </a:solidFill>
                <a:latin typeface="Calibri"/>
                <a:ea typeface="Calibri"/>
                <a:cs typeface="Calibri"/>
                <a:sym typeface="Calibri"/>
              </a:rPr>
              <a:t>Completion rate</a:t>
            </a:r>
            <a:endParaRPr b="0" i="0" sz="1350" u="none" cap="none" strike="noStrike">
              <a:solidFill>
                <a:schemeClr val="dk1"/>
              </a:solidFill>
              <a:latin typeface="Calibri"/>
              <a:ea typeface="Calibri"/>
              <a:cs typeface="Calibri"/>
              <a:sym typeface="Calibri"/>
            </a:endParaRPr>
          </a:p>
        </p:txBody>
      </p:sp>
      <p:sp>
        <p:nvSpPr>
          <p:cNvPr id="62" name="Google Shape;62;p6"/>
          <p:cNvSpPr txBox="1"/>
          <p:nvPr/>
        </p:nvSpPr>
        <p:spPr>
          <a:xfrm>
            <a:off x="868680" y="2377440"/>
            <a:ext cx="295351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00"/>
              <a:buFont typeface="Calibri"/>
              <a:buNone/>
            </a:pPr>
            <a:r>
              <a:rPr b="0" i="0" lang="en-US" sz="1300" u="none" cap="none" strike="noStrike">
                <a:solidFill>
                  <a:srgbClr val="5B5652"/>
                </a:solidFill>
                <a:latin typeface="Calibri"/>
                <a:ea typeface="Calibri"/>
                <a:cs typeface="Calibri"/>
                <a:sym typeface="Calibri"/>
              </a:rPr>
              <a:t>Control → Test</a:t>
            </a:r>
            <a:endParaRPr b="0" i="0" sz="1300" u="none" cap="none" strike="noStrike">
              <a:solidFill>
                <a:schemeClr val="dk1"/>
              </a:solidFill>
              <a:latin typeface="Calibri"/>
              <a:ea typeface="Calibri"/>
              <a:cs typeface="Calibri"/>
              <a:sym typeface="Calibri"/>
            </a:endParaRPr>
          </a:p>
        </p:txBody>
      </p:sp>
      <p:sp>
        <p:nvSpPr>
          <p:cNvPr id="63" name="Google Shape;63;p6"/>
          <p:cNvSpPr txBox="1"/>
          <p:nvPr/>
        </p:nvSpPr>
        <p:spPr>
          <a:xfrm>
            <a:off x="868680" y="2651760"/>
            <a:ext cx="29535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2200"/>
              <a:buFont typeface="Georgia"/>
              <a:buNone/>
            </a:pPr>
            <a:r>
              <a:rPr b="1" i="0" lang="en-US" sz="2200" u="none" cap="none" strike="noStrike">
                <a:solidFill>
                  <a:srgbClr val="96151D"/>
                </a:solidFill>
                <a:latin typeface="Georgia"/>
                <a:ea typeface="Georgia"/>
                <a:cs typeface="Georgia"/>
                <a:sym typeface="Georgia"/>
              </a:rPr>
              <a:t>35.2% → 36.6%</a:t>
            </a:r>
            <a:endParaRPr b="0" i="0" sz="2200" u="none" cap="none" strike="noStrike">
              <a:solidFill>
                <a:schemeClr val="dk1"/>
              </a:solidFill>
              <a:latin typeface="Calibri"/>
              <a:ea typeface="Calibri"/>
              <a:cs typeface="Calibri"/>
              <a:sym typeface="Calibri"/>
            </a:endParaRPr>
          </a:p>
        </p:txBody>
      </p:sp>
      <p:sp>
        <p:nvSpPr>
          <p:cNvPr id="64" name="Google Shape;64;p6"/>
          <p:cNvSpPr txBox="1"/>
          <p:nvPr/>
        </p:nvSpPr>
        <p:spPr>
          <a:xfrm>
            <a:off x="868680" y="3611880"/>
            <a:ext cx="295351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1" lang="en-US" sz="1350" u="none" cap="none" strike="noStrike">
                <a:solidFill>
                  <a:srgbClr val="5B5652"/>
                </a:solidFill>
                <a:latin typeface="Calibri"/>
                <a:ea typeface="Calibri"/>
                <a:cs typeface="Calibri"/>
                <a:sym typeface="Calibri"/>
              </a:rPr>
              <a:t>+1.5 pts · significant, small effect</a:t>
            </a:r>
            <a:endParaRPr b="0" i="0" sz="1350" u="none" cap="none" strike="noStrike">
              <a:solidFill>
                <a:schemeClr val="dk1"/>
              </a:solidFill>
              <a:latin typeface="Calibri"/>
              <a:ea typeface="Calibri"/>
              <a:cs typeface="Calibri"/>
              <a:sym typeface="Calibri"/>
            </a:endParaRPr>
          </a:p>
        </p:txBody>
      </p:sp>
      <p:sp>
        <p:nvSpPr>
          <p:cNvPr id="65" name="Google Shape;65;p6"/>
          <p:cNvSpPr/>
          <p:nvPr/>
        </p:nvSpPr>
        <p:spPr>
          <a:xfrm>
            <a:off x="4233672" y="1691640"/>
            <a:ext cx="3410712" cy="26517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txBox="1"/>
          <p:nvPr/>
        </p:nvSpPr>
        <p:spPr>
          <a:xfrm>
            <a:off x="4462272" y="1874520"/>
            <a:ext cx="295351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350"/>
              <a:buFont typeface="Calibri"/>
              <a:buNone/>
            </a:pPr>
            <a:r>
              <a:rPr b="1" lang="en-US" sz="1350">
                <a:solidFill>
                  <a:srgbClr val="5B5652"/>
                </a:solidFill>
                <a:latin typeface="Calibri"/>
                <a:ea typeface="Calibri"/>
                <a:cs typeface="Calibri"/>
                <a:sym typeface="Calibri"/>
              </a:rPr>
              <a:t>Reaching confirm at all</a:t>
            </a:r>
            <a:endParaRPr b="0" i="0" sz="1350" u="none" cap="none" strike="noStrike">
              <a:solidFill>
                <a:schemeClr val="dk1"/>
              </a:solidFill>
              <a:latin typeface="Calibri"/>
              <a:ea typeface="Calibri"/>
              <a:cs typeface="Calibri"/>
              <a:sym typeface="Calibri"/>
            </a:endParaRPr>
          </a:p>
        </p:txBody>
      </p:sp>
      <p:sp>
        <p:nvSpPr>
          <p:cNvPr id="67" name="Google Shape;67;p6"/>
          <p:cNvSpPr txBox="1"/>
          <p:nvPr/>
        </p:nvSpPr>
        <p:spPr>
          <a:xfrm>
            <a:off x="4462272" y="2377440"/>
            <a:ext cx="295351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00"/>
              <a:buFont typeface="Calibri"/>
              <a:buNone/>
            </a:pPr>
            <a:r>
              <a:rPr b="0" i="0" lang="en-US" sz="1300" u="none" cap="none" strike="noStrike">
                <a:solidFill>
                  <a:srgbClr val="5B5652"/>
                </a:solidFill>
                <a:latin typeface="Calibri"/>
                <a:ea typeface="Calibri"/>
                <a:cs typeface="Calibri"/>
                <a:sym typeface="Calibri"/>
              </a:rPr>
              <a:t>Control → Test</a:t>
            </a:r>
            <a:endParaRPr b="0" i="0" sz="1300" u="none" cap="none" strike="noStrike">
              <a:solidFill>
                <a:schemeClr val="dk1"/>
              </a:solidFill>
              <a:latin typeface="Calibri"/>
              <a:ea typeface="Calibri"/>
              <a:cs typeface="Calibri"/>
              <a:sym typeface="Calibri"/>
            </a:endParaRPr>
          </a:p>
        </p:txBody>
      </p:sp>
      <p:sp>
        <p:nvSpPr>
          <p:cNvPr id="68" name="Google Shape;68;p6"/>
          <p:cNvSpPr txBox="1"/>
          <p:nvPr/>
        </p:nvSpPr>
        <p:spPr>
          <a:xfrm>
            <a:off x="4462272" y="2651760"/>
            <a:ext cx="29535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2200"/>
              <a:buFont typeface="Georgia"/>
              <a:buNone/>
            </a:pPr>
            <a:r>
              <a:rPr b="1" i="0" lang="en-US" sz="2200" u="none" cap="none" strike="noStrike">
                <a:solidFill>
                  <a:srgbClr val="96151D"/>
                </a:solidFill>
                <a:latin typeface="Georgia"/>
                <a:ea typeface="Georgia"/>
                <a:cs typeface="Georgia"/>
                <a:sym typeface="Georgia"/>
              </a:rPr>
              <a:t>47.7% → 57.7%</a:t>
            </a:r>
            <a:endParaRPr b="0" i="0" sz="2200" u="none" cap="none" strike="noStrike">
              <a:solidFill>
                <a:schemeClr val="dk1"/>
              </a:solidFill>
              <a:latin typeface="Calibri"/>
              <a:ea typeface="Calibri"/>
              <a:cs typeface="Calibri"/>
              <a:sym typeface="Calibri"/>
            </a:endParaRPr>
          </a:p>
        </p:txBody>
      </p:sp>
      <p:sp>
        <p:nvSpPr>
          <p:cNvPr id="69" name="Google Shape;69;p6"/>
          <p:cNvSpPr txBox="1"/>
          <p:nvPr/>
        </p:nvSpPr>
        <p:spPr>
          <a:xfrm>
            <a:off x="4462272" y="3611880"/>
            <a:ext cx="295351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1" lang="en-US" sz="1350" u="none" cap="none" strike="noStrike">
                <a:solidFill>
                  <a:srgbClr val="5B5652"/>
                </a:solidFill>
                <a:latin typeface="Calibri"/>
                <a:ea typeface="Calibri"/>
                <a:cs typeface="Calibri"/>
                <a:sym typeface="Calibri"/>
              </a:rPr>
              <a:t>+10 pts · clearest behavioral difference</a:t>
            </a:r>
            <a:endParaRPr b="0" i="0" sz="1350" u="none" cap="none" strike="noStrike">
              <a:solidFill>
                <a:schemeClr val="dk1"/>
              </a:solidFill>
              <a:latin typeface="Calibri"/>
              <a:ea typeface="Calibri"/>
              <a:cs typeface="Calibri"/>
              <a:sym typeface="Calibri"/>
            </a:endParaRPr>
          </a:p>
        </p:txBody>
      </p:sp>
      <p:sp>
        <p:nvSpPr>
          <p:cNvPr id="70" name="Google Shape;70;p6"/>
          <p:cNvSpPr/>
          <p:nvPr/>
        </p:nvSpPr>
        <p:spPr>
          <a:xfrm>
            <a:off x="7827264" y="1691640"/>
            <a:ext cx="3410712" cy="26517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6"/>
          <p:cNvSpPr txBox="1"/>
          <p:nvPr/>
        </p:nvSpPr>
        <p:spPr>
          <a:xfrm>
            <a:off x="8055864" y="1874520"/>
            <a:ext cx="295351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350"/>
              <a:buFont typeface="Calibri"/>
              <a:buNone/>
            </a:pPr>
            <a:r>
              <a:rPr b="1" i="0" lang="en-US" sz="1350" u="none" cap="none" strike="noStrike">
                <a:solidFill>
                  <a:srgbClr val="5B5652"/>
                </a:solidFill>
                <a:latin typeface="Calibri"/>
                <a:ea typeface="Calibri"/>
                <a:cs typeface="Calibri"/>
                <a:sym typeface="Calibri"/>
              </a:rPr>
              <a:t>Completion time (median</a:t>
            </a:r>
            <a:r>
              <a:rPr b="1" lang="en-US" sz="1350">
                <a:solidFill>
                  <a:srgbClr val="5B5652"/>
                </a:solidFill>
                <a:latin typeface="Calibri"/>
                <a:ea typeface="Calibri"/>
                <a:cs typeface="Calibri"/>
                <a:sym typeface="Calibri"/>
              </a:rPr>
              <a:t>)</a:t>
            </a:r>
            <a:endParaRPr b="0" i="0" sz="1350" u="none" cap="none" strike="noStrike">
              <a:solidFill>
                <a:schemeClr val="dk1"/>
              </a:solidFill>
              <a:latin typeface="Calibri"/>
              <a:ea typeface="Calibri"/>
              <a:cs typeface="Calibri"/>
              <a:sym typeface="Calibri"/>
            </a:endParaRPr>
          </a:p>
        </p:txBody>
      </p:sp>
      <p:sp>
        <p:nvSpPr>
          <p:cNvPr id="72" name="Google Shape;72;p6"/>
          <p:cNvSpPr txBox="1"/>
          <p:nvPr/>
        </p:nvSpPr>
        <p:spPr>
          <a:xfrm>
            <a:off x="8055864" y="2377440"/>
            <a:ext cx="2953512"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00"/>
              <a:buFont typeface="Calibri"/>
              <a:buNone/>
            </a:pPr>
            <a:r>
              <a:rPr b="0" i="0" lang="en-US" sz="1300" u="none" cap="none" strike="noStrike">
                <a:solidFill>
                  <a:srgbClr val="5B5652"/>
                </a:solidFill>
                <a:latin typeface="Calibri"/>
                <a:ea typeface="Calibri"/>
                <a:cs typeface="Calibri"/>
                <a:sym typeface="Calibri"/>
              </a:rPr>
              <a:t>Control → Test</a:t>
            </a:r>
            <a:endParaRPr b="0" i="0" sz="1300" u="none" cap="none" strike="noStrike">
              <a:solidFill>
                <a:schemeClr val="dk1"/>
              </a:solidFill>
              <a:latin typeface="Calibri"/>
              <a:ea typeface="Calibri"/>
              <a:cs typeface="Calibri"/>
              <a:sym typeface="Calibri"/>
            </a:endParaRPr>
          </a:p>
        </p:txBody>
      </p:sp>
      <p:sp>
        <p:nvSpPr>
          <p:cNvPr id="73" name="Google Shape;73;p6"/>
          <p:cNvSpPr txBox="1"/>
          <p:nvPr/>
        </p:nvSpPr>
        <p:spPr>
          <a:xfrm>
            <a:off x="8055864" y="2651760"/>
            <a:ext cx="2953512"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2200"/>
              <a:buFont typeface="Georgia"/>
              <a:buNone/>
            </a:pPr>
            <a:r>
              <a:rPr b="1" i="0" lang="en-US" sz="2200" u="none" cap="none" strike="noStrike">
                <a:solidFill>
                  <a:srgbClr val="96151D"/>
                </a:solidFill>
                <a:latin typeface="Georgia"/>
                <a:ea typeface="Georgia"/>
                <a:cs typeface="Georgia"/>
                <a:sym typeface="Georgia"/>
              </a:rPr>
              <a:t>4.07 → 3.33 min</a:t>
            </a:r>
            <a:endParaRPr b="0" i="0" sz="2200" u="none" cap="none" strike="noStrike">
              <a:solidFill>
                <a:schemeClr val="dk1"/>
              </a:solidFill>
              <a:latin typeface="Calibri"/>
              <a:ea typeface="Calibri"/>
              <a:cs typeface="Calibri"/>
              <a:sym typeface="Calibri"/>
            </a:endParaRPr>
          </a:p>
        </p:txBody>
      </p:sp>
      <p:sp>
        <p:nvSpPr>
          <p:cNvPr id="74" name="Google Shape;74;p6"/>
          <p:cNvSpPr txBox="1"/>
          <p:nvPr/>
        </p:nvSpPr>
        <p:spPr>
          <a:xfrm>
            <a:off x="8055864" y="3611880"/>
            <a:ext cx="2953512"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1" lang="en-US" sz="1300" u="none" cap="none" strike="noStrike">
                <a:solidFill>
                  <a:srgbClr val="5B5652"/>
                </a:solidFill>
                <a:latin typeface="Calibri"/>
                <a:ea typeface="Calibri"/>
                <a:cs typeface="Calibri"/>
                <a:sym typeface="Calibri"/>
              </a:rPr>
              <a:t>significant · Cohen's d = 0.13</a:t>
            </a:r>
            <a:endParaRPr b="0" i="0" sz="1300" u="none" cap="none" strike="noStrike">
              <a:solidFill>
                <a:schemeClr val="dk1"/>
              </a:solidFill>
              <a:latin typeface="Calibri"/>
              <a:ea typeface="Calibri"/>
              <a:cs typeface="Calibri"/>
              <a:sym typeface="Calibri"/>
            </a:endParaRPr>
          </a:p>
        </p:txBody>
      </p:sp>
      <p:sp>
        <p:nvSpPr>
          <p:cNvPr id="75" name="Google Shape;75;p6"/>
          <p:cNvSpPr/>
          <p:nvPr/>
        </p:nvSpPr>
        <p:spPr>
          <a:xfrm>
            <a:off x="640080" y="4709160"/>
            <a:ext cx="10607040" cy="96012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txBox="1"/>
          <p:nvPr/>
        </p:nvSpPr>
        <p:spPr>
          <a:xfrm>
            <a:off x="914400" y="4709160"/>
            <a:ext cx="100584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Test converts more people to confirm, and does it faster.</a:t>
            </a:r>
            <a:endParaRPr b="0" i="0" sz="1600" u="none" cap="none" strike="noStrike">
              <a:solidFill>
                <a:schemeClr val="dk1"/>
              </a:solidFill>
              <a:latin typeface="Calibri"/>
              <a:ea typeface="Calibri"/>
              <a:cs typeface="Calibri"/>
              <a:sym typeface="Calibri"/>
            </a:endParaRPr>
          </a:p>
        </p:txBody>
      </p:sp>
      <p:sp>
        <p:nvSpPr>
          <p:cNvPr id="77" name="Google Shape;77;p6"/>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4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7"/>
          <p:cNvSpPr txBox="1"/>
          <p:nvPr/>
        </p:nvSpPr>
        <p:spPr>
          <a:xfrm>
            <a:off x="640080" y="457200"/>
            <a:ext cx="10607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500"/>
              <a:buFont typeface="Georgia"/>
              <a:buNone/>
            </a:pPr>
            <a:r>
              <a:rPr b="1" i="0" lang="en-US" sz="2500" u="none" cap="none" strike="noStrike">
                <a:solidFill>
                  <a:srgbClr val="1A1A1A"/>
                </a:solidFill>
                <a:latin typeface="Georgia"/>
                <a:ea typeface="Georgia"/>
                <a:cs typeface="Georgia"/>
                <a:sym typeface="Georgia"/>
              </a:rPr>
              <a:t>What else can we say about the success path?</a:t>
            </a:r>
            <a:endParaRPr b="0" i="0" sz="2500" u="none" cap="none" strike="noStrike">
              <a:solidFill>
                <a:schemeClr val="dk1"/>
              </a:solidFill>
              <a:latin typeface="Calibri"/>
              <a:ea typeface="Calibri"/>
              <a:cs typeface="Calibri"/>
              <a:sym typeface="Calibri"/>
            </a:endParaRPr>
          </a:p>
        </p:txBody>
      </p:sp>
      <p:sp>
        <p:nvSpPr>
          <p:cNvPr id="84" name="Google Shape;84;p7"/>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600" u="none" cap="none" strike="noStrike">
                <a:solidFill>
                  <a:srgbClr val="5B5652"/>
                </a:solidFill>
                <a:latin typeface="Calibri"/>
                <a:ea typeface="Calibri"/>
                <a:cs typeface="Calibri"/>
                <a:sym typeface="Calibri"/>
              </a:rPr>
              <a:t>Stress-testing the result, not just reporting it</a:t>
            </a:r>
            <a:endParaRPr b="0" i="0" sz="1600" u="none" cap="none" strike="noStrike">
              <a:solidFill>
                <a:schemeClr val="dk1"/>
              </a:solidFill>
              <a:latin typeface="Calibri"/>
              <a:ea typeface="Calibri"/>
              <a:cs typeface="Calibri"/>
              <a:sym typeface="Calibri"/>
            </a:endParaRPr>
          </a:p>
        </p:txBody>
      </p:sp>
      <p:sp>
        <p:nvSpPr>
          <p:cNvPr id="85" name="Google Shape;85;p7"/>
          <p:cNvSpPr/>
          <p:nvPr/>
        </p:nvSpPr>
        <p:spPr>
          <a:xfrm>
            <a:off x="640080" y="1691640"/>
            <a:ext cx="10607040" cy="832104"/>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txBox="1"/>
          <p:nvPr/>
        </p:nvSpPr>
        <p:spPr>
          <a:xfrm>
            <a:off x="914400" y="1691640"/>
            <a:ext cx="32918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1450"/>
              <a:buFont typeface="Calibri"/>
              <a:buNone/>
            </a:pPr>
            <a:r>
              <a:rPr b="1" i="0" lang="en-US" sz="1450" u="none" cap="none" strike="noStrike">
                <a:solidFill>
                  <a:srgbClr val="96151D"/>
                </a:solidFill>
                <a:latin typeface="Calibri"/>
                <a:ea typeface="Calibri"/>
                <a:cs typeface="Calibri"/>
                <a:sym typeface="Calibri"/>
              </a:rPr>
              <a:t>Not driven by outliers</a:t>
            </a:r>
            <a:endParaRPr b="0" i="0" sz="1450" u="none" cap="none" strike="noStrike">
              <a:solidFill>
                <a:schemeClr val="dk1"/>
              </a:solidFill>
              <a:latin typeface="Calibri"/>
              <a:ea typeface="Calibri"/>
              <a:cs typeface="Calibri"/>
              <a:sym typeface="Calibri"/>
            </a:endParaRPr>
          </a:p>
        </p:txBody>
      </p:sp>
      <p:sp>
        <p:nvSpPr>
          <p:cNvPr id="87" name="Google Shape;87;p7"/>
          <p:cNvSpPr txBox="1"/>
          <p:nvPr/>
        </p:nvSpPr>
        <p:spPr>
          <a:xfrm>
            <a:off x="4297680" y="1691640"/>
            <a:ext cx="676656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US" sz="1300" u="none" cap="none" strike="noStrike">
                <a:solidFill>
                  <a:srgbClr val="222222"/>
                </a:solidFill>
                <a:latin typeface="Calibri"/>
                <a:ea typeface="Calibri"/>
                <a:cs typeface="Calibri"/>
                <a:sym typeface="Calibri"/>
              </a:rPr>
              <a:t>Excluding unusually long journeys, Test is still faster: 3.80 min vs. 4.34 min  (full data: 3.33 vs. 4.07)</a:t>
            </a:r>
            <a:endParaRPr b="0" i="0" sz="1300" u="none" cap="none" strike="noStrike">
              <a:solidFill>
                <a:schemeClr val="dk1"/>
              </a:solidFill>
              <a:latin typeface="Calibri"/>
              <a:ea typeface="Calibri"/>
              <a:cs typeface="Calibri"/>
              <a:sym typeface="Calibri"/>
            </a:endParaRPr>
          </a:p>
        </p:txBody>
      </p:sp>
      <p:sp>
        <p:nvSpPr>
          <p:cNvPr id="88" name="Google Shape;88;p7"/>
          <p:cNvSpPr/>
          <p:nvPr/>
        </p:nvSpPr>
        <p:spPr>
          <a:xfrm>
            <a:off x="640080" y="2651760"/>
            <a:ext cx="10607040" cy="832104"/>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txBox="1"/>
          <p:nvPr/>
        </p:nvSpPr>
        <p:spPr>
          <a:xfrm>
            <a:off x="914400" y="2651760"/>
            <a:ext cx="32918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1450"/>
              <a:buFont typeface="Calibri"/>
              <a:buNone/>
            </a:pPr>
            <a:r>
              <a:rPr b="1" i="0" lang="en-US" sz="1450" u="none" cap="none" strike="noStrike">
                <a:solidFill>
                  <a:srgbClr val="96151D"/>
                </a:solidFill>
                <a:latin typeface="Calibri"/>
                <a:ea typeface="Calibri"/>
                <a:cs typeface="Calibri"/>
                <a:sym typeface="Calibri"/>
              </a:rPr>
              <a:t>The gap is real, not noise</a:t>
            </a:r>
            <a:endParaRPr b="0" i="0" sz="1450" u="none" cap="none" strike="noStrike">
              <a:solidFill>
                <a:schemeClr val="dk1"/>
              </a:solidFill>
              <a:latin typeface="Calibri"/>
              <a:ea typeface="Calibri"/>
              <a:cs typeface="Calibri"/>
              <a:sym typeface="Calibri"/>
            </a:endParaRPr>
          </a:p>
        </p:txBody>
      </p:sp>
      <p:sp>
        <p:nvSpPr>
          <p:cNvPr id="90" name="Google Shape;90;p7"/>
          <p:cNvSpPr txBox="1"/>
          <p:nvPr/>
        </p:nvSpPr>
        <p:spPr>
          <a:xfrm>
            <a:off x="4297680" y="2651760"/>
            <a:ext cx="676656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US" sz="1300" u="none" cap="none" strike="noStrike">
                <a:solidFill>
                  <a:srgbClr val="222222"/>
                </a:solidFill>
                <a:latin typeface="Calibri"/>
                <a:ea typeface="Calibri"/>
                <a:cs typeface="Calibri"/>
                <a:sym typeface="Calibri"/>
              </a:rPr>
              <a:t>95% CI on the completion-rate difference:  +0.69 to +2.12 points — entirely positive, never crosses zero</a:t>
            </a:r>
            <a:endParaRPr b="0" i="0" sz="1300" u="none" cap="none" strike="noStrike">
              <a:solidFill>
                <a:schemeClr val="dk1"/>
              </a:solidFill>
              <a:latin typeface="Calibri"/>
              <a:ea typeface="Calibri"/>
              <a:cs typeface="Calibri"/>
              <a:sym typeface="Calibri"/>
            </a:endParaRPr>
          </a:p>
        </p:txBody>
      </p:sp>
      <p:sp>
        <p:nvSpPr>
          <p:cNvPr id="91" name="Google Shape;91;p7"/>
          <p:cNvSpPr/>
          <p:nvPr/>
        </p:nvSpPr>
        <p:spPr>
          <a:xfrm>
            <a:off x="640080" y="3611880"/>
            <a:ext cx="10607040" cy="832104"/>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txBox="1"/>
          <p:nvPr/>
        </p:nvSpPr>
        <p:spPr>
          <a:xfrm>
            <a:off x="914400" y="3611880"/>
            <a:ext cx="329184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1450"/>
              <a:buFont typeface="Calibri"/>
              <a:buNone/>
            </a:pPr>
            <a:r>
              <a:rPr b="1" i="0" lang="en-US" sz="1450" u="none" cap="none" strike="noStrike">
                <a:solidFill>
                  <a:srgbClr val="96151D"/>
                </a:solidFill>
                <a:latin typeface="Calibri"/>
                <a:ea typeface="Calibri"/>
                <a:cs typeface="Calibri"/>
                <a:sym typeface="Calibri"/>
              </a:rPr>
              <a:t>Assumptions checked, not assumed</a:t>
            </a:r>
            <a:endParaRPr b="0" i="0" sz="1450" u="none" cap="none" strike="noStrike">
              <a:solidFill>
                <a:schemeClr val="dk1"/>
              </a:solidFill>
              <a:latin typeface="Calibri"/>
              <a:ea typeface="Calibri"/>
              <a:cs typeface="Calibri"/>
              <a:sym typeface="Calibri"/>
            </a:endParaRPr>
          </a:p>
        </p:txBody>
      </p:sp>
      <p:sp>
        <p:nvSpPr>
          <p:cNvPr id="93" name="Google Shape;93;p7"/>
          <p:cNvSpPr txBox="1"/>
          <p:nvPr/>
        </p:nvSpPr>
        <p:spPr>
          <a:xfrm>
            <a:off x="4297680" y="3611880"/>
            <a:ext cx="6766560" cy="83210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00"/>
              <a:buFont typeface="Calibri"/>
              <a:buNone/>
            </a:pPr>
            <a:r>
              <a:rPr b="0" i="0" lang="en-US" sz="1300" u="none" cap="none" strike="noStrike">
                <a:solidFill>
                  <a:srgbClr val="222222"/>
                </a:solidFill>
                <a:latin typeface="Calibri"/>
                <a:ea typeface="Calibri"/>
                <a:cs typeface="Calibri"/>
                <a:sym typeface="Calibri"/>
              </a:rPr>
              <a:t>Levene's test confirmed unequal variance (p = 0.0001) → Welch's t-test was the right call, not just a default</a:t>
            </a:r>
            <a:endParaRPr b="0" i="0" sz="1300" u="none" cap="none" strike="noStrike">
              <a:solidFill>
                <a:schemeClr val="dk1"/>
              </a:solidFill>
              <a:latin typeface="Calibri"/>
              <a:ea typeface="Calibri"/>
              <a:cs typeface="Calibri"/>
              <a:sym typeface="Calibri"/>
            </a:endParaRPr>
          </a:p>
        </p:txBody>
      </p:sp>
      <p:sp>
        <p:nvSpPr>
          <p:cNvPr id="94" name="Google Shape;94;p7"/>
          <p:cNvSpPr/>
          <p:nvPr/>
        </p:nvSpPr>
        <p:spPr>
          <a:xfrm>
            <a:off x="640080" y="4892040"/>
            <a:ext cx="10607040" cy="96012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p:cNvSpPr txBox="1"/>
          <p:nvPr/>
        </p:nvSpPr>
        <p:spPr>
          <a:xfrm>
            <a:off x="914400" y="4892040"/>
            <a:ext cx="100584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This holds up under scrutiny — the effect is real, even if it's modest in size.</a:t>
            </a:r>
            <a:endParaRPr b="0" i="0" sz="1600" u="none" cap="none" strike="noStrike">
              <a:solidFill>
                <a:schemeClr val="dk1"/>
              </a:solidFill>
              <a:latin typeface="Calibri"/>
              <a:ea typeface="Calibri"/>
              <a:cs typeface="Calibri"/>
              <a:sym typeface="Calibri"/>
            </a:endParaRPr>
          </a:p>
        </p:txBody>
      </p:sp>
      <p:sp>
        <p:nvSpPr>
          <p:cNvPr id="96" name="Google Shape;96;p7"/>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5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8"/>
          <p:cNvSpPr txBox="1"/>
          <p:nvPr/>
        </p:nvSpPr>
        <p:spPr>
          <a:xfrm>
            <a:off x="640080" y="457200"/>
            <a:ext cx="10607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Where and why do customers abandon?</a:t>
            </a:r>
            <a:endParaRPr b="0" i="0" sz="2600" u="none" cap="none" strike="noStrike">
              <a:solidFill>
                <a:schemeClr val="dk1"/>
              </a:solidFill>
              <a:latin typeface="Calibri"/>
              <a:ea typeface="Calibri"/>
              <a:cs typeface="Calibri"/>
              <a:sym typeface="Calibri"/>
            </a:endParaRPr>
          </a:p>
        </p:txBody>
      </p:sp>
      <p:sp>
        <p:nvSpPr>
          <p:cNvPr id="103" name="Google Shape;103;p8"/>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600" u="none" cap="none" strike="noStrike">
                <a:solidFill>
                  <a:srgbClr val="5B5652"/>
                </a:solidFill>
                <a:latin typeface="Calibri"/>
                <a:ea typeface="Calibri"/>
                <a:cs typeface="Calibri"/>
                <a:sym typeface="Calibri"/>
              </a:rPr>
              <a:t>Abandoned = reached start, never reached confirm</a:t>
            </a:r>
            <a:endParaRPr b="0" i="0" sz="1600" u="none" cap="none" strike="noStrike">
              <a:solidFill>
                <a:schemeClr val="dk1"/>
              </a:solidFill>
              <a:latin typeface="Calibri"/>
              <a:ea typeface="Calibri"/>
              <a:cs typeface="Calibri"/>
              <a:sym typeface="Calibri"/>
            </a:endParaRPr>
          </a:p>
        </p:txBody>
      </p:sp>
      <p:sp>
        <p:nvSpPr>
          <p:cNvPr id="104" name="Google Shape;104;p8"/>
          <p:cNvSpPr txBox="1"/>
          <p:nvPr/>
        </p:nvSpPr>
        <p:spPr>
          <a:xfrm>
            <a:off x="640080" y="1600200"/>
            <a:ext cx="106070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500"/>
              <a:buFont typeface="Calibri"/>
              <a:buNone/>
            </a:pPr>
            <a:r>
              <a:rPr b="0" i="0" lang="en-US" sz="1500" u="none" cap="none" strike="noStrike">
                <a:solidFill>
                  <a:srgbClr val="222222"/>
                </a:solidFill>
                <a:latin typeface="Calibri"/>
                <a:ea typeface="Calibri"/>
                <a:cs typeface="Calibri"/>
                <a:sym typeface="Calibri"/>
              </a:rPr>
              <a:t>Furthest step reached before giving up  (all abandoned journeys, 67,770 total)</a:t>
            </a:r>
            <a:endParaRPr b="0" i="0" sz="1500" u="none" cap="none" strike="noStrike">
              <a:solidFill>
                <a:schemeClr val="dk1"/>
              </a:solidFill>
              <a:latin typeface="Calibri"/>
              <a:ea typeface="Calibri"/>
              <a:cs typeface="Calibri"/>
              <a:sym typeface="Calibri"/>
            </a:endParaRPr>
          </a:p>
        </p:txBody>
      </p:sp>
      <p:sp>
        <p:nvSpPr>
          <p:cNvPr id="105" name="Google Shape;105;p8"/>
          <p:cNvSpPr txBox="1"/>
          <p:nvPr/>
        </p:nvSpPr>
        <p:spPr>
          <a:xfrm>
            <a:off x="640080" y="2148840"/>
            <a:ext cx="137160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Start only</a:t>
            </a:r>
            <a:endParaRPr b="0" i="0" sz="1350" u="none" cap="none" strike="noStrike">
              <a:solidFill>
                <a:schemeClr val="dk1"/>
              </a:solidFill>
              <a:latin typeface="Calibri"/>
              <a:ea typeface="Calibri"/>
              <a:cs typeface="Calibri"/>
              <a:sym typeface="Calibri"/>
            </a:endParaRPr>
          </a:p>
        </p:txBody>
      </p:sp>
      <p:sp>
        <p:nvSpPr>
          <p:cNvPr id="106" name="Google Shape;106;p8"/>
          <p:cNvSpPr/>
          <p:nvPr/>
        </p:nvSpPr>
        <p:spPr>
          <a:xfrm>
            <a:off x="2103120" y="2203704"/>
            <a:ext cx="6050280" cy="365760"/>
          </a:xfrm>
          <a:prstGeom prst="rect">
            <a:avLst/>
          </a:prstGeom>
          <a:solidFill>
            <a:srgbClr val="9615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txBox="1"/>
          <p:nvPr/>
        </p:nvSpPr>
        <p:spPr>
          <a:xfrm>
            <a:off x="8290560" y="2148840"/>
            <a:ext cx="914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39.7%</a:t>
            </a:r>
            <a:endParaRPr b="0" i="0" sz="1350" u="none" cap="none" strike="noStrike">
              <a:solidFill>
                <a:schemeClr val="dk1"/>
              </a:solidFill>
              <a:latin typeface="Calibri"/>
              <a:ea typeface="Calibri"/>
              <a:cs typeface="Calibri"/>
              <a:sym typeface="Calibri"/>
            </a:endParaRPr>
          </a:p>
        </p:txBody>
      </p:sp>
      <p:sp>
        <p:nvSpPr>
          <p:cNvPr id="108" name="Google Shape;108;p8"/>
          <p:cNvSpPr txBox="1"/>
          <p:nvPr/>
        </p:nvSpPr>
        <p:spPr>
          <a:xfrm>
            <a:off x="640080" y="2825496"/>
            <a:ext cx="137160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Step 1</a:t>
            </a:r>
            <a:endParaRPr b="0" i="0" sz="1350" u="none" cap="none" strike="noStrike">
              <a:solidFill>
                <a:schemeClr val="dk1"/>
              </a:solidFill>
              <a:latin typeface="Calibri"/>
              <a:ea typeface="Calibri"/>
              <a:cs typeface="Calibri"/>
              <a:sym typeface="Calibri"/>
            </a:endParaRPr>
          </a:p>
        </p:txBody>
      </p:sp>
      <p:sp>
        <p:nvSpPr>
          <p:cNvPr id="109" name="Google Shape;109;p8"/>
          <p:cNvSpPr/>
          <p:nvPr/>
        </p:nvSpPr>
        <p:spPr>
          <a:xfrm>
            <a:off x="2103120" y="2880360"/>
            <a:ext cx="3444240" cy="365760"/>
          </a:xfrm>
          <a:prstGeom prst="rect">
            <a:avLst/>
          </a:prstGeom>
          <a:solidFill>
            <a:srgbClr val="9615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txBox="1"/>
          <p:nvPr/>
        </p:nvSpPr>
        <p:spPr>
          <a:xfrm>
            <a:off x="5684520" y="2825496"/>
            <a:ext cx="914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22.6%</a:t>
            </a:r>
            <a:endParaRPr b="0" i="0" sz="1350" u="none" cap="none" strike="noStrike">
              <a:solidFill>
                <a:schemeClr val="dk1"/>
              </a:solidFill>
              <a:latin typeface="Calibri"/>
              <a:ea typeface="Calibri"/>
              <a:cs typeface="Calibri"/>
              <a:sym typeface="Calibri"/>
            </a:endParaRPr>
          </a:p>
        </p:txBody>
      </p:sp>
      <p:sp>
        <p:nvSpPr>
          <p:cNvPr id="111" name="Google Shape;111;p8"/>
          <p:cNvSpPr txBox="1"/>
          <p:nvPr/>
        </p:nvSpPr>
        <p:spPr>
          <a:xfrm>
            <a:off x="640080" y="3502152"/>
            <a:ext cx="137160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Step 2</a:t>
            </a:r>
            <a:endParaRPr b="0" i="0" sz="1350" u="none" cap="none" strike="noStrike">
              <a:solidFill>
                <a:schemeClr val="dk1"/>
              </a:solidFill>
              <a:latin typeface="Calibri"/>
              <a:ea typeface="Calibri"/>
              <a:cs typeface="Calibri"/>
              <a:sym typeface="Calibri"/>
            </a:endParaRPr>
          </a:p>
        </p:txBody>
      </p:sp>
      <p:sp>
        <p:nvSpPr>
          <p:cNvPr id="112" name="Google Shape;112;p8"/>
          <p:cNvSpPr/>
          <p:nvPr/>
        </p:nvSpPr>
        <p:spPr>
          <a:xfrm>
            <a:off x="2103120" y="3557016"/>
            <a:ext cx="2316480" cy="365760"/>
          </a:xfrm>
          <a:prstGeom prst="rect">
            <a:avLst/>
          </a:prstGeom>
          <a:solidFill>
            <a:srgbClr val="9615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txBox="1"/>
          <p:nvPr/>
        </p:nvSpPr>
        <p:spPr>
          <a:xfrm>
            <a:off x="4556760" y="3502152"/>
            <a:ext cx="914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15.2%</a:t>
            </a:r>
            <a:endParaRPr b="0" i="0" sz="1350" u="none" cap="none" strike="noStrike">
              <a:solidFill>
                <a:schemeClr val="dk1"/>
              </a:solidFill>
              <a:latin typeface="Calibri"/>
              <a:ea typeface="Calibri"/>
              <a:cs typeface="Calibri"/>
              <a:sym typeface="Calibri"/>
            </a:endParaRPr>
          </a:p>
        </p:txBody>
      </p:sp>
      <p:sp>
        <p:nvSpPr>
          <p:cNvPr id="114" name="Google Shape;114;p8"/>
          <p:cNvSpPr txBox="1"/>
          <p:nvPr/>
        </p:nvSpPr>
        <p:spPr>
          <a:xfrm>
            <a:off x="640080" y="4178808"/>
            <a:ext cx="1371600" cy="56692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Step 3</a:t>
            </a:r>
            <a:endParaRPr b="0" i="0" sz="1350" u="none" cap="none" strike="noStrike">
              <a:solidFill>
                <a:schemeClr val="dk1"/>
              </a:solidFill>
              <a:latin typeface="Calibri"/>
              <a:ea typeface="Calibri"/>
              <a:cs typeface="Calibri"/>
              <a:sym typeface="Calibri"/>
            </a:endParaRPr>
          </a:p>
        </p:txBody>
      </p:sp>
      <p:sp>
        <p:nvSpPr>
          <p:cNvPr id="115" name="Google Shape;115;p8"/>
          <p:cNvSpPr/>
          <p:nvPr/>
        </p:nvSpPr>
        <p:spPr>
          <a:xfrm>
            <a:off x="2103120" y="4233672"/>
            <a:ext cx="3429000" cy="36576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txBox="1"/>
          <p:nvPr/>
        </p:nvSpPr>
        <p:spPr>
          <a:xfrm>
            <a:off x="5669280" y="4178808"/>
            <a:ext cx="91440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2222"/>
              </a:buClr>
              <a:buSzPts val="1350"/>
              <a:buFont typeface="Calibri"/>
              <a:buNone/>
            </a:pPr>
            <a:r>
              <a:rPr b="1" i="0" lang="en-US" sz="1350" u="none" cap="none" strike="noStrike">
                <a:solidFill>
                  <a:srgbClr val="222222"/>
                </a:solidFill>
                <a:latin typeface="Calibri"/>
                <a:ea typeface="Calibri"/>
                <a:cs typeface="Calibri"/>
                <a:sym typeface="Calibri"/>
              </a:rPr>
              <a:t>22.5%</a:t>
            </a:r>
            <a:endParaRPr b="0" i="0" sz="1350" u="none" cap="none" strike="noStrike">
              <a:solidFill>
                <a:schemeClr val="dk1"/>
              </a:solidFill>
              <a:latin typeface="Calibri"/>
              <a:ea typeface="Calibri"/>
              <a:cs typeface="Calibri"/>
              <a:sym typeface="Calibri"/>
            </a:endParaRPr>
          </a:p>
        </p:txBody>
      </p:sp>
      <p:sp>
        <p:nvSpPr>
          <p:cNvPr id="117" name="Google Shape;117;p8"/>
          <p:cNvSpPr/>
          <p:nvPr/>
        </p:nvSpPr>
        <p:spPr>
          <a:xfrm>
            <a:off x="640080" y="4846320"/>
            <a:ext cx="10607040" cy="10515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8"/>
          <p:cNvSpPr txBox="1"/>
          <p:nvPr/>
        </p:nvSpPr>
        <p:spPr>
          <a:xfrm>
            <a:off x="914400" y="4846320"/>
            <a:ext cx="1005840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Nearly 1 in 4 abandoners made it all the way to Step 3 — right before confirmation — and still walked away.</a:t>
            </a:r>
            <a:endParaRPr b="0" i="0" sz="1600" u="none" cap="none" strike="noStrike">
              <a:solidFill>
                <a:schemeClr val="dk1"/>
              </a:solidFill>
              <a:latin typeface="Calibri"/>
              <a:ea typeface="Calibri"/>
              <a:cs typeface="Calibri"/>
              <a:sym typeface="Calibri"/>
            </a:endParaRPr>
          </a:p>
        </p:txBody>
      </p:sp>
      <p:sp>
        <p:nvSpPr>
          <p:cNvPr id="119" name="Google Shape;119;p8"/>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6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9"/>
          <p:cNvSpPr txBox="1"/>
          <p:nvPr/>
        </p:nvSpPr>
        <p:spPr>
          <a:xfrm>
            <a:off x="640080" y="457200"/>
            <a:ext cx="10607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Did we fix the problem with abandonment?</a:t>
            </a:r>
            <a:endParaRPr b="0" i="0" sz="2600" u="none" cap="none" strike="noStrike">
              <a:solidFill>
                <a:schemeClr val="dk1"/>
              </a:solidFill>
              <a:latin typeface="Calibri"/>
              <a:ea typeface="Calibri"/>
              <a:cs typeface="Calibri"/>
              <a:sym typeface="Calibri"/>
            </a:endParaRPr>
          </a:p>
        </p:txBody>
      </p:sp>
      <p:sp>
        <p:nvSpPr>
          <p:cNvPr id="126" name="Google Shape;126;p9"/>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600" u="none" cap="none" strike="noStrike">
                <a:solidFill>
                  <a:srgbClr val="5B5652"/>
                </a:solidFill>
                <a:latin typeface="Calibri"/>
                <a:ea typeface="Calibri"/>
                <a:cs typeface="Calibri"/>
                <a:sym typeface="Calibri"/>
              </a:rPr>
              <a:t>Abandonment rate improved — but that's not the whole story</a:t>
            </a:r>
            <a:endParaRPr b="0" i="0" sz="1600" u="none" cap="none" strike="noStrike">
              <a:solidFill>
                <a:schemeClr val="dk1"/>
              </a:solidFill>
              <a:latin typeface="Calibri"/>
              <a:ea typeface="Calibri"/>
              <a:cs typeface="Calibri"/>
              <a:sym typeface="Calibri"/>
            </a:endParaRPr>
          </a:p>
        </p:txBody>
      </p:sp>
      <p:sp>
        <p:nvSpPr>
          <p:cNvPr id="127" name="Google Shape;127;p9"/>
          <p:cNvSpPr/>
          <p:nvPr/>
        </p:nvSpPr>
        <p:spPr>
          <a:xfrm>
            <a:off x="640080" y="1691640"/>
            <a:ext cx="5166360" cy="21945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9"/>
          <p:cNvSpPr txBox="1"/>
          <p:nvPr/>
        </p:nvSpPr>
        <p:spPr>
          <a:xfrm>
            <a:off x="914400" y="1874520"/>
            <a:ext cx="4617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1" i="0" lang="en-US" sz="1600" u="none" cap="none" strike="noStrike">
                <a:solidFill>
                  <a:srgbClr val="5B5652"/>
                </a:solidFill>
                <a:latin typeface="Calibri"/>
                <a:ea typeface="Calibri"/>
                <a:cs typeface="Calibri"/>
                <a:sym typeface="Calibri"/>
              </a:rPr>
              <a:t>Abandonment rate</a:t>
            </a:r>
            <a:endParaRPr b="0" i="0" sz="1600" u="none" cap="none" strike="noStrike">
              <a:solidFill>
                <a:schemeClr val="dk1"/>
              </a:solidFill>
              <a:latin typeface="Calibri"/>
              <a:ea typeface="Calibri"/>
              <a:cs typeface="Calibri"/>
              <a:sym typeface="Calibri"/>
            </a:endParaRPr>
          </a:p>
        </p:txBody>
      </p:sp>
      <p:sp>
        <p:nvSpPr>
          <p:cNvPr id="129" name="Google Shape;129;p9"/>
          <p:cNvSpPr txBox="1"/>
          <p:nvPr/>
        </p:nvSpPr>
        <p:spPr>
          <a:xfrm>
            <a:off x="914400" y="2377440"/>
            <a:ext cx="4617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0" lang="en-US" sz="1300" u="none" cap="none" strike="noStrike">
                <a:solidFill>
                  <a:srgbClr val="5B5652"/>
                </a:solidFill>
                <a:latin typeface="Calibri"/>
                <a:ea typeface="Calibri"/>
                <a:cs typeface="Calibri"/>
                <a:sym typeface="Calibri"/>
              </a:rPr>
              <a:t>Control → Test</a:t>
            </a:r>
            <a:endParaRPr b="0" i="0" sz="1300" u="none" cap="none" strike="noStrike">
              <a:solidFill>
                <a:schemeClr val="dk1"/>
              </a:solidFill>
              <a:latin typeface="Calibri"/>
              <a:ea typeface="Calibri"/>
              <a:cs typeface="Calibri"/>
              <a:sym typeface="Calibri"/>
            </a:endParaRPr>
          </a:p>
        </p:txBody>
      </p:sp>
      <p:sp>
        <p:nvSpPr>
          <p:cNvPr id="130" name="Google Shape;130;p9"/>
          <p:cNvSpPr txBox="1"/>
          <p:nvPr/>
        </p:nvSpPr>
        <p:spPr>
          <a:xfrm>
            <a:off x="914400" y="2697480"/>
            <a:ext cx="4617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6151D"/>
              </a:buClr>
              <a:buSzPts val="2600"/>
              <a:buFont typeface="Georgia"/>
              <a:buNone/>
            </a:pPr>
            <a:r>
              <a:rPr b="1" i="0" lang="en-US" sz="2600" u="none" cap="none" strike="noStrike">
                <a:solidFill>
                  <a:srgbClr val="96151D"/>
                </a:solidFill>
                <a:latin typeface="Georgia"/>
                <a:ea typeface="Georgia"/>
                <a:cs typeface="Georgia"/>
                <a:sym typeface="Georgia"/>
              </a:rPr>
              <a:t>49.7% → 41.0%</a:t>
            </a:r>
            <a:endParaRPr b="0" i="0" sz="2600" u="none" cap="none" strike="noStrike">
              <a:solidFill>
                <a:schemeClr val="dk1"/>
              </a:solidFill>
              <a:latin typeface="Calibri"/>
              <a:ea typeface="Calibri"/>
              <a:cs typeface="Calibri"/>
              <a:sym typeface="Calibri"/>
            </a:endParaRPr>
          </a:p>
        </p:txBody>
      </p:sp>
      <p:sp>
        <p:nvSpPr>
          <p:cNvPr id="131" name="Google Shape;131;p9"/>
          <p:cNvSpPr txBox="1"/>
          <p:nvPr/>
        </p:nvSpPr>
        <p:spPr>
          <a:xfrm>
            <a:off x="914400" y="3474720"/>
            <a:ext cx="4617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250"/>
              <a:buFont typeface="Calibri"/>
              <a:buNone/>
            </a:pPr>
            <a:r>
              <a:rPr b="0" i="1" lang="en-US" sz="1350" u="none" cap="none" strike="noStrike">
                <a:solidFill>
                  <a:srgbClr val="5B5652"/>
                </a:solidFill>
                <a:latin typeface="Calibri"/>
                <a:ea typeface="Calibri"/>
                <a:cs typeface="Calibri"/>
                <a:sym typeface="Calibri"/>
              </a:rPr>
              <a:t>−8.7 points</a:t>
            </a:r>
            <a:endParaRPr b="0" i="0" sz="1350" u="none" cap="none" strike="noStrike">
              <a:solidFill>
                <a:schemeClr val="dk1"/>
              </a:solidFill>
              <a:latin typeface="Calibri"/>
              <a:ea typeface="Calibri"/>
              <a:cs typeface="Calibri"/>
              <a:sym typeface="Calibri"/>
            </a:endParaRPr>
          </a:p>
        </p:txBody>
      </p:sp>
      <p:sp>
        <p:nvSpPr>
          <p:cNvPr id="132" name="Google Shape;132;p9"/>
          <p:cNvSpPr/>
          <p:nvPr/>
        </p:nvSpPr>
        <p:spPr>
          <a:xfrm>
            <a:off x="6080760" y="1691640"/>
            <a:ext cx="5166360" cy="21945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9"/>
          <p:cNvSpPr txBox="1"/>
          <p:nvPr/>
        </p:nvSpPr>
        <p:spPr>
          <a:xfrm>
            <a:off x="6355080" y="1874520"/>
            <a:ext cx="461772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1" i="0" lang="en-US" sz="1400" u="none" cap="none" strike="noStrike">
                <a:solidFill>
                  <a:srgbClr val="5B5652"/>
                </a:solidFill>
                <a:latin typeface="Calibri"/>
                <a:ea typeface="Calibri"/>
                <a:cs typeface="Calibri"/>
                <a:sym typeface="Calibri"/>
              </a:rPr>
              <a:t>Time before giving up (median)</a:t>
            </a:r>
            <a:endParaRPr b="0" i="0" sz="1400" u="none" cap="none" strike="noStrike">
              <a:solidFill>
                <a:schemeClr val="dk1"/>
              </a:solidFill>
              <a:latin typeface="Calibri"/>
              <a:ea typeface="Calibri"/>
              <a:cs typeface="Calibri"/>
              <a:sym typeface="Calibri"/>
            </a:endParaRPr>
          </a:p>
        </p:txBody>
      </p:sp>
      <p:sp>
        <p:nvSpPr>
          <p:cNvPr id="134" name="Google Shape;134;p9"/>
          <p:cNvSpPr txBox="1"/>
          <p:nvPr/>
        </p:nvSpPr>
        <p:spPr>
          <a:xfrm>
            <a:off x="6355080" y="2377440"/>
            <a:ext cx="4617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0" lang="en-US" sz="1300" u="none" cap="none" strike="noStrike">
                <a:solidFill>
                  <a:srgbClr val="5B5652"/>
                </a:solidFill>
                <a:latin typeface="Calibri"/>
                <a:ea typeface="Calibri"/>
                <a:cs typeface="Calibri"/>
                <a:sym typeface="Calibri"/>
              </a:rPr>
              <a:t>Control → Test</a:t>
            </a:r>
            <a:endParaRPr b="0" i="0" sz="1300" u="none" cap="none" strike="noStrike">
              <a:solidFill>
                <a:schemeClr val="dk1"/>
              </a:solidFill>
              <a:latin typeface="Calibri"/>
              <a:ea typeface="Calibri"/>
              <a:cs typeface="Calibri"/>
              <a:sym typeface="Calibri"/>
            </a:endParaRPr>
          </a:p>
        </p:txBody>
      </p:sp>
      <p:sp>
        <p:nvSpPr>
          <p:cNvPr id="135" name="Google Shape;135;p9"/>
          <p:cNvSpPr txBox="1"/>
          <p:nvPr/>
        </p:nvSpPr>
        <p:spPr>
          <a:xfrm>
            <a:off x="6355080" y="2697480"/>
            <a:ext cx="4617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0.52 → 1.43 min</a:t>
            </a:r>
            <a:endParaRPr b="0" i="0" sz="2600" u="none" cap="none" strike="noStrike">
              <a:solidFill>
                <a:schemeClr val="dk1"/>
              </a:solidFill>
              <a:latin typeface="Calibri"/>
              <a:ea typeface="Calibri"/>
              <a:cs typeface="Calibri"/>
              <a:sym typeface="Calibri"/>
            </a:endParaRPr>
          </a:p>
        </p:txBody>
      </p:sp>
      <p:sp>
        <p:nvSpPr>
          <p:cNvPr id="136" name="Google Shape;136;p9"/>
          <p:cNvSpPr txBox="1"/>
          <p:nvPr/>
        </p:nvSpPr>
        <p:spPr>
          <a:xfrm>
            <a:off x="6355080" y="3474720"/>
            <a:ext cx="4617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250"/>
              <a:buFont typeface="Calibri"/>
              <a:buNone/>
            </a:pPr>
            <a:r>
              <a:rPr b="0" i="1" lang="en-US" sz="1250" u="none" cap="none" strike="noStrike">
                <a:solidFill>
                  <a:srgbClr val="5B5652"/>
                </a:solidFill>
                <a:latin typeface="Calibri"/>
                <a:ea typeface="Calibri"/>
                <a:cs typeface="Calibri"/>
                <a:sym typeface="Calibri"/>
              </a:rPr>
              <a:t>~3x longer, not sooner</a:t>
            </a:r>
            <a:endParaRPr b="0" i="0" sz="1250" u="none" cap="none" strike="noStrike">
              <a:solidFill>
                <a:schemeClr val="dk1"/>
              </a:solidFill>
              <a:latin typeface="Calibri"/>
              <a:ea typeface="Calibri"/>
              <a:cs typeface="Calibri"/>
              <a:sym typeface="Calibri"/>
            </a:endParaRPr>
          </a:p>
        </p:txBody>
      </p:sp>
      <p:sp>
        <p:nvSpPr>
          <p:cNvPr id="137" name="Google Shape;137;p9"/>
          <p:cNvSpPr/>
          <p:nvPr/>
        </p:nvSpPr>
        <p:spPr>
          <a:xfrm>
            <a:off x="640080" y="4160520"/>
            <a:ext cx="10607040" cy="169164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
          <p:cNvSpPr txBox="1"/>
          <p:nvPr/>
        </p:nvSpPr>
        <p:spPr>
          <a:xfrm>
            <a:off x="914400" y="4160520"/>
            <a:ext cx="10058400" cy="1691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Fewer people abandon in Test — but the ones who still do stick around much longer before quitting. That's not pure good news; it could mean the new flow is more engaging, or that it strings people along further before they give up.</a:t>
            </a:r>
            <a:endParaRPr b="0" i="0" sz="1500" u="none" cap="none" strike="noStrike">
              <a:solidFill>
                <a:schemeClr val="dk1"/>
              </a:solidFill>
              <a:latin typeface="Calibri"/>
              <a:ea typeface="Calibri"/>
              <a:cs typeface="Calibri"/>
              <a:sym typeface="Calibri"/>
            </a:endParaRPr>
          </a:p>
        </p:txBody>
      </p:sp>
      <p:sp>
        <p:nvSpPr>
          <p:cNvPr id="139" name="Google Shape;139;p9"/>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7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 name="Shape 144"/>
        <p:cNvGrpSpPr/>
        <p:nvPr/>
      </p:nvGrpSpPr>
      <p:grpSpPr>
        <a:xfrm>
          <a:off x="0" y="0"/>
          <a:ext cx="0" cy="0"/>
          <a:chOff x="0" y="0"/>
          <a:chExt cx="0" cy="0"/>
        </a:xfrm>
      </p:grpSpPr>
      <p:sp>
        <p:nvSpPr>
          <p:cNvPr id="145" name="Google Shape;145;p10"/>
          <p:cNvSpPr txBox="1"/>
          <p:nvPr/>
        </p:nvSpPr>
        <p:spPr>
          <a:xfrm>
            <a:off x="640080" y="457200"/>
            <a:ext cx="1005840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600"/>
              <a:buFont typeface="Georgia"/>
              <a:buNone/>
            </a:pPr>
            <a:r>
              <a:rPr b="1" i="0" lang="en-US" sz="2600" u="none" cap="none" strike="noStrike">
                <a:solidFill>
                  <a:srgbClr val="1A1A1A"/>
                </a:solidFill>
                <a:latin typeface="Georgia"/>
                <a:ea typeface="Georgia"/>
                <a:cs typeface="Georgia"/>
                <a:sym typeface="Georgia"/>
              </a:rPr>
              <a:t>What problems do we still have?</a:t>
            </a:r>
            <a:endParaRPr b="0" i="0" sz="2600" u="none" cap="none" strike="noStrike">
              <a:solidFill>
                <a:schemeClr val="dk1"/>
              </a:solidFill>
              <a:latin typeface="Calibri"/>
              <a:ea typeface="Calibri"/>
              <a:cs typeface="Calibri"/>
              <a:sym typeface="Calibri"/>
            </a:endParaRPr>
          </a:p>
        </p:txBody>
      </p:sp>
      <p:sp>
        <p:nvSpPr>
          <p:cNvPr id="146" name="Google Shape;146;p10"/>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0" i="1" lang="en-US" sz="1400" u="none" cap="none" strike="noStrike">
                <a:solidFill>
                  <a:srgbClr val="5B5652"/>
                </a:solidFill>
                <a:latin typeface="Calibri"/>
                <a:ea typeface="Calibri"/>
                <a:cs typeface="Calibri"/>
                <a:sym typeface="Calibri"/>
              </a:rPr>
              <a:t>Looking at journeys that reached confirmation</a:t>
            </a:r>
            <a:endParaRPr b="0" i="0" sz="1400" u="none" cap="none" strike="noStrike">
              <a:solidFill>
                <a:schemeClr val="dk1"/>
              </a:solidFill>
              <a:latin typeface="Calibri"/>
              <a:ea typeface="Calibri"/>
              <a:cs typeface="Calibri"/>
              <a:sym typeface="Calibri"/>
            </a:endParaRPr>
          </a:p>
        </p:txBody>
      </p:sp>
      <p:sp>
        <p:nvSpPr>
          <p:cNvPr id="147" name="Google Shape;147;p10"/>
          <p:cNvSpPr/>
          <p:nvPr/>
        </p:nvSpPr>
        <p:spPr>
          <a:xfrm>
            <a:off x="640080" y="1691640"/>
            <a:ext cx="5166360" cy="237744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
          <p:cNvSpPr txBox="1"/>
          <p:nvPr/>
        </p:nvSpPr>
        <p:spPr>
          <a:xfrm>
            <a:off x="914400" y="1874520"/>
            <a:ext cx="4617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1" i="0" lang="en-US" sz="1400" u="none" cap="none" strike="noStrike">
                <a:solidFill>
                  <a:srgbClr val="5B5652"/>
                </a:solidFill>
                <a:latin typeface="Calibri"/>
                <a:ea typeface="Calibri"/>
                <a:cs typeface="Calibri"/>
                <a:sym typeface="Calibri"/>
              </a:rPr>
              <a:t>Error rate</a:t>
            </a:r>
            <a:endParaRPr b="0" i="0" sz="1400" u="none" cap="none" strike="noStrike">
              <a:solidFill>
                <a:schemeClr val="dk1"/>
              </a:solidFill>
              <a:latin typeface="Calibri"/>
              <a:ea typeface="Calibri"/>
              <a:cs typeface="Calibri"/>
              <a:sym typeface="Calibri"/>
            </a:endParaRPr>
          </a:p>
        </p:txBody>
      </p:sp>
      <p:sp>
        <p:nvSpPr>
          <p:cNvPr id="149" name="Google Shape;149;p10"/>
          <p:cNvSpPr txBox="1"/>
          <p:nvPr/>
        </p:nvSpPr>
        <p:spPr>
          <a:xfrm>
            <a:off x="914400" y="2286000"/>
            <a:ext cx="4617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1" lang="en-US" sz="1350" u="none" cap="none" strike="noStrike">
                <a:solidFill>
                  <a:srgbClr val="5B5652"/>
                </a:solidFill>
                <a:latin typeface="Calibri"/>
                <a:ea typeface="Calibri"/>
                <a:cs typeface="Calibri"/>
                <a:sym typeface="Calibri"/>
              </a:rPr>
              <a:t>confirmed journeys that weren't a clean path</a:t>
            </a:r>
            <a:endParaRPr b="0" i="0" sz="1350" u="none" cap="none" strike="noStrike">
              <a:solidFill>
                <a:schemeClr val="dk1"/>
              </a:solidFill>
              <a:latin typeface="Calibri"/>
              <a:ea typeface="Calibri"/>
              <a:cs typeface="Calibri"/>
              <a:sym typeface="Calibri"/>
            </a:endParaRPr>
          </a:p>
        </p:txBody>
      </p:sp>
      <p:sp>
        <p:nvSpPr>
          <p:cNvPr id="150" name="Google Shape;150;p10"/>
          <p:cNvSpPr txBox="1"/>
          <p:nvPr/>
        </p:nvSpPr>
        <p:spPr>
          <a:xfrm>
            <a:off x="914400" y="2743200"/>
            <a:ext cx="4617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00"/>
              <a:buFont typeface="Calibri"/>
              <a:buNone/>
            </a:pPr>
            <a:r>
              <a:rPr b="0" i="0" lang="en-US" sz="1200" u="none" cap="none" strike="noStrike">
                <a:solidFill>
                  <a:srgbClr val="5B5652"/>
                </a:solidFill>
                <a:latin typeface="Calibri"/>
                <a:ea typeface="Calibri"/>
                <a:cs typeface="Calibri"/>
                <a:sym typeface="Calibri"/>
              </a:rPr>
              <a:t>Control → Test</a:t>
            </a:r>
            <a:endParaRPr b="0" i="0" sz="1200" u="none" cap="none" strike="noStrike">
              <a:solidFill>
                <a:schemeClr val="dk1"/>
              </a:solidFill>
              <a:latin typeface="Calibri"/>
              <a:ea typeface="Calibri"/>
              <a:cs typeface="Calibri"/>
              <a:sym typeface="Calibri"/>
            </a:endParaRPr>
          </a:p>
        </p:txBody>
      </p:sp>
      <p:sp>
        <p:nvSpPr>
          <p:cNvPr id="151" name="Google Shape;151;p10"/>
          <p:cNvSpPr txBox="1"/>
          <p:nvPr/>
        </p:nvSpPr>
        <p:spPr>
          <a:xfrm>
            <a:off x="914400" y="3063240"/>
            <a:ext cx="4617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Georgia"/>
              <a:buNone/>
            </a:pPr>
            <a:r>
              <a:rPr b="1" i="0" lang="en-US" sz="2400" u="none" cap="none" strike="noStrike">
                <a:solidFill>
                  <a:srgbClr val="1A1A1A"/>
                </a:solidFill>
                <a:latin typeface="Georgia"/>
                <a:ea typeface="Georgia"/>
                <a:cs typeface="Georgia"/>
                <a:sym typeface="Georgia"/>
              </a:rPr>
              <a:t>48.2% → 54.6%</a:t>
            </a:r>
            <a:endParaRPr b="0" i="0" sz="2400" u="none" cap="none" strike="noStrike">
              <a:solidFill>
                <a:schemeClr val="dk1"/>
              </a:solidFill>
              <a:latin typeface="Calibri"/>
              <a:ea typeface="Calibri"/>
              <a:cs typeface="Calibri"/>
              <a:sym typeface="Calibri"/>
            </a:endParaRPr>
          </a:p>
        </p:txBody>
      </p:sp>
      <p:sp>
        <p:nvSpPr>
          <p:cNvPr id="152" name="Google Shape;152;p10"/>
          <p:cNvSpPr/>
          <p:nvPr/>
        </p:nvSpPr>
        <p:spPr>
          <a:xfrm>
            <a:off x="6080760" y="1691640"/>
            <a:ext cx="5166360" cy="237744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0"/>
          <p:cNvSpPr txBox="1"/>
          <p:nvPr/>
        </p:nvSpPr>
        <p:spPr>
          <a:xfrm>
            <a:off x="6355080" y="1874520"/>
            <a:ext cx="4617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rPr b="1" i="0" lang="en-US" sz="1400" u="none" cap="none" strike="noStrike">
                <a:solidFill>
                  <a:srgbClr val="5B5652"/>
                </a:solidFill>
                <a:latin typeface="Calibri"/>
                <a:ea typeface="Calibri"/>
                <a:cs typeface="Calibri"/>
                <a:sym typeface="Calibri"/>
              </a:rPr>
              <a:t>Backward navigation</a:t>
            </a:r>
            <a:endParaRPr b="0" i="0" sz="1400" u="none" cap="none" strike="noStrike">
              <a:solidFill>
                <a:schemeClr val="dk1"/>
              </a:solidFill>
              <a:latin typeface="Calibri"/>
              <a:ea typeface="Calibri"/>
              <a:cs typeface="Calibri"/>
              <a:sym typeface="Calibri"/>
            </a:endParaRPr>
          </a:p>
        </p:txBody>
      </p:sp>
      <p:sp>
        <p:nvSpPr>
          <p:cNvPr id="154" name="Google Shape;154;p10"/>
          <p:cNvSpPr txBox="1"/>
          <p:nvPr/>
        </p:nvSpPr>
        <p:spPr>
          <a:xfrm>
            <a:off x="6355080" y="2286000"/>
            <a:ext cx="46177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50"/>
              <a:buFont typeface="Calibri"/>
              <a:buNone/>
            </a:pPr>
            <a:r>
              <a:rPr b="0" i="1" lang="en-US" sz="1350" u="none" cap="none" strike="noStrike">
                <a:solidFill>
                  <a:srgbClr val="5B5652"/>
                </a:solidFill>
                <a:latin typeface="Calibri"/>
                <a:ea typeface="Calibri"/>
                <a:cs typeface="Calibri"/>
                <a:sym typeface="Calibri"/>
              </a:rPr>
              <a:t>any journey, whole population</a:t>
            </a:r>
            <a:endParaRPr b="0" i="0" sz="1350" u="none" cap="none" strike="noStrike">
              <a:solidFill>
                <a:schemeClr val="dk1"/>
              </a:solidFill>
              <a:latin typeface="Calibri"/>
              <a:ea typeface="Calibri"/>
              <a:cs typeface="Calibri"/>
              <a:sym typeface="Calibri"/>
            </a:endParaRPr>
          </a:p>
        </p:txBody>
      </p:sp>
      <p:sp>
        <p:nvSpPr>
          <p:cNvPr id="155" name="Google Shape;155;p10"/>
          <p:cNvSpPr txBox="1"/>
          <p:nvPr/>
        </p:nvSpPr>
        <p:spPr>
          <a:xfrm>
            <a:off x="6355080" y="2743200"/>
            <a:ext cx="4617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100"/>
              <a:buFont typeface="Calibri"/>
              <a:buNone/>
            </a:pPr>
            <a:r>
              <a:rPr b="0" i="0" lang="en-US" sz="1200" u="none" cap="none" strike="noStrike">
                <a:solidFill>
                  <a:srgbClr val="5B5652"/>
                </a:solidFill>
                <a:latin typeface="Calibri"/>
                <a:ea typeface="Calibri"/>
                <a:cs typeface="Calibri"/>
                <a:sym typeface="Calibri"/>
              </a:rPr>
              <a:t>Control → Test</a:t>
            </a:r>
            <a:endParaRPr b="0" i="0" sz="1200" u="none" cap="none" strike="noStrike">
              <a:solidFill>
                <a:schemeClr val="dk1"/>
              </a:solidFill>
              <a:latin typeface="Calibri"/>
              <a:ea typeface="Calibri"/>
              <a:cs typeface="Calibri"/>
              <a:sym typeface="Calibri"/>
            </a:endParaRPr>
          </a:p>
        </p:txBody>
      </p:sp>
      <p:sp>
        <p:nvSpPr>
          <p:cNvPr id="156" name="Google Shape;156;p10"/>
          <p:cNvSpPr txBox="1"/>
          <p:nvPr/>
        </p:nvSpPr>
        <p:spPr>
          <a:xfrm>
            <a:off x="6355080" y="3063240"/>
            <a:ext cx="46177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Georgia"/>
              <a:buNone/>
            </a:pPr>
            <a:r>
              <a:rPr b="1" i="0" lang="en-US" sz="2400" u="none" cap="none" strike="noStrike">
                <a:solidFill>
                  <a:srgbClr val="1A1A1A"/>
                </a:solidFill>
                <a:latin typeface="Georgia"/>
                <a:ea typeface="Georgia"/>
                <a:cs typeface="Georgia"/>
                <a:sym typeface="Georgia"/>
              </a:rPr>
              <a:t>34.4% → 37.8%</a:t>
            </a:r>
            <a:endParaRPr b="0" i="0" sz="2400" u="none" cap="none" strike="noStrike">
              <a:solidFill>
                <a:schemeClr val="dk1"/>
              </a:solidFill>
              <a:latin typeface="Calibri"/>
              <a:ea typeface="Calibri"/>
              <a:cs typeface="Calibri"/>
              <a:sym typeface="Calibri"/>
            </a:endParaRPr>
          </a:p>
        </p:txBody>
      </p:sp>
      <p:sp>
        <p:nvSpPr>
          <p:cNvPr id="157" name="Google Shape;157;p10"/>
          <p:cNvSpPr/>
          <p:nvPr/>
        </p:nvSpPr>
        <p:spPr>
          <a:xfrm>
            <a:off x="640080" y="4343400"/>
            <a:ext cx="10607040" cy="1280160"/>
          </a:xfrm>
          <a:prstGeom prst="rect">
            <a:avLst/>
          </a:prstGeom>
          <a:solidFill>
            <a:srgbClr val="1A1A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0"/>
          <p:cNvSpPr txBox="1"/>
          <p:nvPr/>
        </p:nvSpPr>
        <p:spPr>
          <a:xfrm>
            <a:off x="914400" y="4343400"/>
            <a:ext cx="1005840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More than half of confirmed journeys in Test still show errors — the redesign hasn't closed this gap, it's grown slightly wider.</a:t>
            </a:r>
            <a:endParaRPr b="0" i="0" sz="1600" u="none" cap="none" strike="noStrike">
              <a:solidFill>
                <a:schemeClr val="dk1"/>
              </a:solidFill>
              <a:latin typeface="Calibri"/>
              <a:ea typeface="Calibri"/>
              <a:cs typeface="Calibri"/>
              <a:sym typeface="Calibri"/>
            </a:endParaRPr>
          </a:p>
        </p:txBody>
      </p:sp>
      <p:sp>
        <p:nvSpPr>
          <p:cNvPr id="159" name="Google Shape;159;p10"/>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8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1"/>
          <p:cNvSpPr txBox="1"/>
          <p:nvPr/>
        </p:nvSpPr>
        <p:spPr>
          <a:xfrm>
            <a:off x="640080" y="457200"/>
            <a:ext cx="106070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Georgia"/>
              <a:buNone/>
            </a:pPr>
            <a:r>
              <a:rPr b="1" i="0" lang="en-US" sz="2400" u="none" cap="none" strike="noStrike">
                <a:solidFill>
                  <a:srgbClr val="1A1A1A"/>
                </a:solidFill>
                <a:latin typeface="Georgia"/>
                <a:ea typeface="Georgia"/>
                <a:cs typeface="Georgia"/>
                <a:sym typeface="Georgia"/>
              </a:rPr>
              <a:t>Backward vs. forward navigation, by step</a:t>
            </a:r>
            <a:endParaRPr b="0" i="0" sz="2400" u="none" cap="none" strike="noStrike">
              <a:solidFill>
                <a:schemeClr val="dk1"/>
              </a:solidFill>
              <a:latin typeface="Calibri"/>
              <a:ea typeface="Calibri"/>
              <a:cs typeface="Calibri"/>
              <a:sym typeface="Calibri"/>
            </a:endParaRPr>
          </a:p>
        </p:txBody>
      </p:sp>
      <p:sp>
        <p:nvSpPr>
          <p:cNvPr id="166" name="Google Shape;166;p11"/>
          <p:cNvSpPr txBox="1"/>
          <p:nvPr/>
        </p:nvSpPr>
        <p:spPr>
          <a:xfrm>
            <a:off x="640080" y="1005840"/>
            <a:ext cx="10058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67" name="Google Shape;167;p11"/>
          <p:cNvSpPr/>
          <p:nvPr/>
        </p:nvSpPr>
        <p:spPr>
          <a:xfrm>
            <a:off x="640080" y="1463040"/>
            <a:ext cx="10881360" cy="4709160"/>
          </a:xfrm>
          <a:prstGeom prst="rect">
            <a:avLst/>
          </a:prstGeom>
          <a:solidFill>
            <a:srgbClr val="F6F3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deck/funnel_chart_styled.png" id="168" name="Google Shape;168;p11"/>
          <p:cNvPicPr preferRelativeResize="0"/>
          <p:nvPr/>
        </p:nvPicPr>
        <p:blipFill rotWithShape="1">
          <a:blip r:embed="rId3">
            <a:alphaModFix/>
          </a:blip>
          <a:srcRect b="0" l="0" r="0" t="0"/>
          <a:stretch/>
        </p:blipFill>
        <p:spPr>
          <a:xfrm>
            <a:off x="868680" y="1645920"/>
            <a:ext cx="10424160" cy="4343400"/>
          </a:xfrm>
          <a:prstGeom prst="rect">
            <a:avLst/>
          </a:prstGeom>
          <a:noFill/>
          <a:ln>
            <a:noFill/>
          </a:ln>
        </p:spPr>
      </p:pic>
      <p:sp>
        <p:nvSpPr>
          <p:cNvPr id="169" name="Google Shape;169;p11"/>
          <p:cNvSpPr txBox="1"/>
          <p:nvPr/>
        </p:nvSpPr>
        <p:spPr>
          <a:xfrm>
            <a:off x="11247120" y="6446520"/>
            <a:ext cx="7315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9 / 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2"/>
          <p:cNvSpPr txBox="1"/>
          <p:nvPr/>
        </p:nvSpPr>
        <p:spPr>
          <a:xfrm>
            <a:off x="640080" y="457200"/>
            <a:ext cx="106071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400"/>
              <a:buFont typeface="Georgia"/>
              <a:buNone/>
            </a:pPr>
            <a:r>
              <a:rPr b="1" lang="en-US" sz="2400">
                <a:solidFill>
                  <a:srgbClr val="1A1A1A"/>
                </a:solidFill>
                <a:latin typeface="Georgia"/>
                <a:ea typeface="Georgia"/>
                <a:cs typeface="Georgia"/>
                <a:sym typeface="Georgia"/>
              </a:rPr>
              <a:t>Dashboard. </a:t>
            </a:r>
            <a:r>
              <a:rPr b="1" lang="en-US" sz="2400">
                <a:solidFill>
                  <a:srgbClr val="1A1A1A"/>
                </a:solidFill>
                <a:latin typeface="Georgia"/>
                <a:ea typeface="Georgia"/>
                <a:cs typeface="Georgia"/>
                <a:sym typeface="Georgia"/>
              </a:rPr>
              <a:t>Customer Journey and Customer </a:t>
            </a:r>
            <a:r>
              <a:rPr b="1" lang="en-US" sz="2400">
                <a:solidFill>
                  <a:srgbClr val="1A1A1A"/>
                </a:solidFill>
                <a:latin typeface="Georgia"/>
                <a:ea typeface="Georgia"/>
                <a:cs typeface="Georgia"/>
                <a:sym typeface="Georgia"/>
              </a:rPr>
              <a:t>Demographic</a:t>
            </a:r>
            <a:endParaRPr b="0" i="0" sz="2400" u="none" cap="none" strike="noStrike">
              <a:solidFill>
                <a:schemeClr val="dk1"/>
              </a:solidFill>
              <a:latin typeface="Calibri"/>
              <a:ea typeface="Calibri"/>
              <a:cs typeface="Calibri"/>
              <a:sym typeface="Calibri"/>
            </a:endParaRPr>
          </a:p>
        </p:txBody>
      </p:sp>
      <p:sp>
        <p:nvSpPr>
          <p:cNvPr id="176" name="Google Shape;176;p12"/>
          <p:cNvSpPr txBox="1"/>
          <p:nvPr/>
        </p:nvSpPr>
        <p:spPr>
          <a:xfrm>
            <a:off x="640080" y="1005840"/>
            <a:ext cx="100584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652"/>
              </a:buClr>
              <a:buSzPts val="1400"/>
              <a:buFont typeface="Calibri"/>
              <a:buNone/>
            </a:pPr>
            <a:r>
              <a:t/>
            </a:r>
            <a:endParaRPr b="0" i="0" sz="1400" u="none" cap="none" strike="noStrike">
              <a:solidFill>
                <a:schemeClr val="dk1"/>
              </a:solidFill>
              <a:latin typeface="Calibri"/>
              <a:ea typeface="Calibri"/>
              <a:cs typeface="Calibri"/>
              <a:sym typeface="Calibri"/>
            </a:endParaRPr>
          </a:p>
        </p:txBody>
      </p:sp>
      <p:sp>
        <p:nvSpPr>
          <p:cNvPr id="177" name="Google Shape;177;p12"/>
          <p:cNvSpPr txBox="1"/>
          <p:nvPr/>
        </p:nvSpPr>
        <p:spPr>
          <a:xfrm>
            <a:off x="11247120" y="6446520"/>
            <a:ext cx="731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8A29B"/>
              </a:buClr>
              <a:buSzPts val="1000"/>
              <a:buFont typeface="Calibri"/>
              <a:buNone/>
            </a:pPr>
            <a:r>
              <a:rPr b="0" i="0" lang="en-US" sz="1000" u="none" cap="none" strike="noStrike">
                <a:solidFill>
                  <a:srgbClr val="A8A29B"/>
                </a:solidFill>
                <a:latin typeface="Calibri"/>
                <a:ea typeface="Calibri"/>
                <a:cs typeface="Calibri"/>
                <a:sym typeface="Calibri"/>
              </a:rPr>
              <a:t>9 / 9</a:t>
            </a:r>
            <a:endParaRPr b="0" i="0" sz="1000" u="none" cap="none" strike="noStrike">
              <a:solidFill>
                <a:schemeClr val="dk1"/>
              </a:solidFill>
              <a:latin typeface="Calibri"/>
              <a:ea typeface="Calibri"/>
              <a:cs typeface="Calibri"/>
              <a:sym typeface="Calibri"/>
            </a:endParaRPr>
          </a:p>
        </p:txBody>
      </p:sp>
      <p:pic>
        <p:nvPicPr>
          <p:cNvPr id="178" name="Google Shape;178;p12" title="Screenshot 2026-08-28 at 11.16.09.png"/>
          <p:cNvPicPr preferRelativeResize="0"/>
          <p:nvPr/>
        </p:nvPicPr>
        <p:blipFill>
          <a:blip r:embed="rId3">
            <a:alphaModFix/>
          </a:blip>
          <a:stretch>
            <a:fillRect/>
          </a:stretch>
        </p:blipFill>
        <p:spPr>
          <a:xfrm>
            <a:off x="547875" y="1842025"/>
            <a:ext cx="6853228" cy="4468074"/>
          </a:xfrm>
          <a:prstGeom prst="rect">
            <a:avLst/>
          </a:prstGeom>
          <a:noFill/>
          <a:ln>
            <a:noFill/>
          </a:ln>
        </p:spPr>
      </p:pic>
      <p:pic>
        <p:nvPicPr>
          <p:cNvPr id="179" name="Google Shape;179;p12" title="Screenshot 2026-08-28 at 11.20.11.png"/>
          <p:cNvPicPr preferRelativeResize="0"/>
          <p:nvPr/>
        </p:nvPicPr>
        <p:blipFill>
          <a:blip r:embed="rId4">
            <a:alphaModFix/>
          </a:blip>
          <a:stretch>
            <a:fillRect/>
          </a:stretch>
        </p:blipFill>
        <p:spPr>
          <a:xfrm>
            <a:off x="7325751" y="1095763"/>
            <a:ext cx="4131550" cy="573387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